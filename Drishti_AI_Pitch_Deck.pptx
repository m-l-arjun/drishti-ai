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303520" cy="411480"/>
          </a:xfrm>
          <a:prstGeom prst="roundRect">
            <a:avLst/>
          </a:prstGeom>
          <a:solidFill>
            <a:srgbClr val="1C140A"/>
          </a:solidFill>
          <a:ln>
            <a:solidFill>
              <a:srgbClr val="FF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7800"/>
                </a:solidFill>
              </a:defRPr>
            </a:pPr>
            <a:r>
              <a:t>🏆  iQOO HACKATHON 2026 • HYDERABAD CITY BATTLE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FD700"/>
                </a:solidFill>
              </a:defRPr>
            </a:pPr>
            <a:r>
              <a:t>DRISHTI AI (दृष्टि)</a:t>
            </a:r>
          </a:p>
          <a:p>
            <a:pPr>
              <a:spcBef>
                <a:spcPts val="600"/>
              </a:spcBef>
              <a:defRPr sz="2200">
                <a:solidFill>
                  <a:srgbClr val="FFFFFF"/>
                </a:solidFill>
              </a:defRPr>
            </a:pPr>
            <a:r>
              <a:t>On-Device AI Sensory Prosthetic for the Visually Impaired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141826"/>
          </a:solidFill>
          <a:ln>
            <a:solidFill>
              <a:srgbClr val="FF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28600"/>
          <a:lstStyle/>
          <a:p>
            <a:pPr algn="ctr">
              <a:defRPr sz="1500" i="1">
                <a:solidFill>
                  <a:srgbClr val="FFEBB4"/>
                </a:solidFill>
              </a:defRPr>
            </a:pPr>
            <a:r>
              <a:t>“Vision shouldn't wait for a cloud round-trip, compromise your privacy,</a:t>
            </a:r>
            <a:br/>
            <a:r>
              <a:t>or stop working when connectivity drops.”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120640"/>
            <a:ext cx="2606040" cy="1097280"/>
          </a:xfrm>
          <a:prstGeom prst="roundRect">
            <a:avLst/>
          </a:prstGeom>
          <a:solidFill>
            <a:srgbClr val="141826"/>
          </a:solidFill>
          <a:ln>
            <a:solidFill>
              <a:srgbClr val="2D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0 ms</a:t>
            </a:r>
          </a:p>
          <a:p>
            <a:pPr algn="ctr">
              <a:defRPr sz="1000">
                <a:solidFill>
                  <a:srgbClr val="A0A8BE"/>
                </a:solidFill>
              </a:defRPr>
            </a:pPr>
            <a:r>
              <a:t>Cloud Calls (100% Local)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5120640"/>
            <a:ext cx="2606040" cy="1097280"/>
          </a:xfrm>
          <a:prstGeom prst="roundRect">
            <a:avLst/>
          </a:prstGeom>
          <a:solidFill>
            <a:srgbClr val="141826"/>
          </a:solidFill>
          <a:ln>
            <a:solidFill>
              <a:srgbClr val="2D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2400" b="1">
                <a:solidFill>
                  <a:srgbClr val="FF7800"/>
                </a:solidFill>
              </a:defRPr>
            </a:pPr>
            <a:r>
              <a:t>&lt; 30 ms</a:t>
            </a:r>
          </a:p>
          <a:p>
            <a:pPr algn="ctr">
              <a:defRPr sz="1000">
                <a:solidFill>
                  <a:srgbClr val="A0A8BE"/>
                </a:solidFill>
              </a:defRPr>
            </a:pPr>
            <a:r>
              <a:t>NPU Response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5120640"/>
            <a:ext cx="2606040" cy="1097280"/>
          </a:xfrm>
          <a:prstGeom prst="roundRect">
            <a:avLst/>
          </a:prstGeom>
          <a:solidFill>
            <a:srgbClr val="141826"/>
          </a:solidFill>
          <a:ln>
            <a:solidFill>
              <a:srgbClr val="2D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2400" b="1">
                <a:solidFill>
                  <a:srgbClr val="00E5FF"/>
                </a:solidFill>
              </a:defRPr>
            </a:pPr>
            <a:r>
              <a:t>7 Languages</a:t>
            </a:r>
          </a:p>
          <a:p>
            <a:pPr algn="ctr">
              <a:defRPr sz="1000">
                <a:solidFill>
                  <a:srgbClr val="A0A8BE"/>
                </a:solidFill>
              </a:defRPr>
            </a:pPr>
            <a:r>
              <a:t>Pan-Indian Vernaculars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5120640"/>
            <a:ext cx="2606040" cy="1097280"/>
          </a:xfrm>
          <a:prstGeom prst="roundRect">
            <a:avLst/>
          </a:prstGeom>
          <a:solidFill>
            <a:srgbClr val="141826"/>
          </a:solidFill>
          <a:ln>
            <a:solidFill>
              <a:srgbClr val="2D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2400" b="1">
                <a:solidFill>
                  <a:srgbClr val="FFD700"/>
                </a:solidFill>
              </a:defRPr>
            </a:pPr>
            <a:r>
              <a:t>Air-Gapped</a:t>
            </a:r>
          </a:p>
          <a:p>
            <a:pPr algn="ctr">
              <a:defRPr sz="1000">
                <a:solidFill>
                  <a:srgbClr val="A0A8BE"/>
                </a:solidFill>
              </a:defRPr>
            </a:pPr>
            <a:r>
              <a:t>Works in Airplane Mode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800"/>
                </a:solidFill>
              </a:defRPr>
            </a:pPr>
            <a:r>
              <a:t>THE CRITICAL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Cloud Vision Trap in Assistive 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0A8BE"/>
                </a:solidFill>
              </a:defRPr>
            </a:pPr>
            <a:r>
              <a:t>Over 40 million visually impaired citizens in India are failed by existing cloud-based aids in 3 dangerous ways: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29000" cy="4297680"/>
          </a:xfrm>
          <a:prstGeom prst="roundRect">
            <a:avLst/>
          </a:prstGeom>
          <a:solidFill>
            <a:srgbClr val="141826"/>
          </a:solidFill>
          <a:ln w="15240">
            <a:solidFill>
              <a:srgbClr val="2D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900" b="1">
                <a:solidFill>
                  <a:srgbClr val="F87171"/>
                </a:solidFill>
              </a:defRPr>
            </a:pPr>
            <a:r>
              <a:t>FATAL FLAW 1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1. Cloud Latency is Dangerous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Cloud Vision APIs take 2,000ms to 5,000ms per round-trip.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A pedestrian moving at 1.2 m/s travels 4 to 6 feet in that window.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A 2-second delay in busy street navigation causes physical injury.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Assistive collision avoidance demands instant sub-200ms reaction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429000" cy="4297680"/>
          </a:xfrm>
          <a:prstGeom prst="roundRect">
            <a:avLst/>
          </a:prstGeom>
          <a:solidFill>
            <a:srgbClr val="141826"/>
          </a:solidFill>
          <a:ln w="15240">
            <a:solidFill>
              <a:srgbClr val="2D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900" b="1">
                <a:solidFill>
                  <a:srgbClr val="FF7800"/>
                </a:solidFill>
              </a:defRPr>
            </a:pPr>
            <a:r>
              <a:t>FATAL FLAW 2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2. Severe Privacy Invasions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Users are forced to stream real-time video of private spaces to commercial servers.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Exposes personal bedrooms, bank receipts, medical prescriptions, and ID cards (Aadhaar).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Unacceptable surveillance and biometric data leakage risks.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Zero guarantee where user spatial footage is stored or trained 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429000" cy="4297680"/>
          </a:xfrm>
          <a:prstGeom prst="roundRect">
            <a:avLst/>
          </a:prstGeom>
          <a:solidFill>
            <a:srgbClr val="141826"/>
          </a:solidFill>
          <a:ln w="15240">
            <a:solidFill>
              <a:srgbClr val="2D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900" b="1">
                <a:solidFill>
                  <a:srgbClr val="00E5FF"/>
                </a:solidFill>
              </a:defRPr>
            </a:pPr>
            <a:r>
              <a:t>FATAL FLAW 3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3. Transit &amp; Signal Fragility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Real transit corridors constantly suffer from zero or weak mobile signals.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Metro undergrounds, basement escalators, elevators, and rural bus routes fail.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When internet drops, cloud-tethered apps instantly blind the user.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True assistive technology must remain functional 100% offline.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800"/>
                </a:solidFill>
              </a:defRPr>
            </a:pPr>
            <a:r>
              <a:t>100% ON-DEVICE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Drishti AI Architecture &amp; 4 Core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0A8BE"/>
                </a:solidFill>
              </a:defRPr>
            </a:pPr>
            <a:r>
              <a:t>Zero Cloud Calls in the core sensory pipeline. All inference runs directly on device silicon.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2103120"/>
          </a:xfrm>
          <a:prstGeom prst="roundRect">
            <a:avLst/>
          </a:prstGeom>
          <a:solidFill>
            <a:srgbClr val="141826"/>
          </a:solidFill>
          <a:ln w="15240">
            <a:solidFill>
              <a:srgbClr val="2D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900" b="1">
                <a:solidFill>
                  <a:srgbClr val="FF7800"/>
                </a:solidFill>
              </a:defRPr>
            </a:pPr>
            <a:r>
              <a:t>PRIORITY 1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1. Clock-Face Spatial Narration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Translates obstacles into 12 clock sectors (e.g. 'Obstacle at 12 o'clock, 3 ft').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Categorizes hazards into 3 distance zones: NEAR (&lt; 3ft), MID, FAR.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Linear haptic motor pulses escalate in urgency as user nears hazards.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2103120"/>
          </a:xfrm>
          <a:prstGeom prst="roundRect">
            <a:avLst/>
          </a:prstGeom>
          <a:solidFill>
            <a:srgbClr val="141826"/>
          </a:solidFill>
          <a:ln w="15240">
            <a:solidFill>
              <a:srgbClr val="2D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PRIORITY 2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2. Indian Pharma Smart-Scan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On-device OCR isolates brand names (Dolo 650, Pan 40, Azithral).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Extracts Indian pharmaceutical expiry dates (EXP 11/2027) &amp; dosage strength.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Vocalizes dietary instructions ('Take after food') in the user's native tongue.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5212080" cy="2103120"/>
          </a:xfrm>
          <a:prstGeom prst="roundRect">
            <a:avLst/>
          </a:prstGeom>
          <a:solidFill>
            <a:srgbClr val="141826"/>
          </a:solidFill>
          <a:ln w="15240">
            <a:solidFill>
              <a:srgbClr val="2D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900" b="1">
                <a:solidFill>
                  <a:srgbClr val="00E5FF"/>
                </a:solidFill>
              </a:defRPr>
            </a:pPr>
            <a:r>
              <a:t>PRIORITY 3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3. Live Unsimulated Benchmark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Genuine HTTP POST round-trip vs. on-device NPU stopwatch.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Proves 10x-50x speed advantage side-by-side with live telemetry HUD.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Cached Replay safety valve ('Key R') guarantees demo flow in hostile Wi-Fi.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06240"/>
            <a:ext cx="5212080" cy="2103120"/>
          </a:xfrm>
          <a:prstGeom prst="roundRect">
            <a:avLst/>
          </a:prstGeom>
          <a:solidFill>
            <a:srgbClr val="141826"/>
          </a:solidFill>
          <a:ln w="15240">
            <a:solidFill>
              <a:srgbClr val="2D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900" b="1">
                <a:solidFill>
                  <a:srgbClr val="FFD700"/>
                </a:solidFill>
              </a:defRPr>
            </a:pPr>
            <a:r>
              <a:t>PRIORITY 4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4. 'Who's Near Me' Face Recognition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128-dimensional biometric facial embeddings stored locally.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Encrypted at rest with WebCrypto AES-GCM 256-bit encryption.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Subtle double-heartbeat vibration &amp; whispered prompt when friends approach.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800"/>
                </a:solidFill>
              </a:defRPr>
            </a:pPr>
            <a:r>
              <a:t>DEMOCRATIZING ACCESSIBILITY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Hardware Diversity: Tiered Model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0A8BE"/>
                </a:solidFill>
              </a:defRPr>
            </a:pPr>
            <a:r>
              <a:t>Assistive tech cannot assume an ₹80,000 flagship. Drishti dynamically scales across chip tiers: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3931920"/>
          </a:xfrm>
          <a:prstGeom prst="roundRect">
            <a:avLst/>
          </a:prstGeom>
          <a:solidFill>
            <a:srgbClr val="141826"/>
          </a:solidFill>
          <a:ln w="15240">
            <a:solidFill>
              <a:srgbClr val="2D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900" b="1">
                <a:solidFill>
                  <a:srgbClr val="FF7800"/>
                </a:solidFill>
              </a:defRPr>
            </a:pPr>
            <a:r>
              <a:t>FLAGSHIP MODE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Standard Tier (Flagship NPU)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Hardware Target: Snapdragon 8 Elite class / Flagship NPUs.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Rich spatial comprehension: Full-scene multi-object contextual understanding.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320x240 frame processing: High-precision edge &amp; obstacle segmentation.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Ultra-low latency: ~15ms - 35ms local inference response.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Designed for maximum descriptive richness in complex indoor/outdoor scenes.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3931920"/>
          </a:xfrm>
          <a:prstGeom prst="roundRect">
            <a:avLst/>
          </a:prstGeom>
          <a:solidFill>
            <a:srgbClr val="141826"/>
          </a:solidFill>
          <a:ln w="15240">
            <a:solidFill>
              <a:srgbClr val="2D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900" b="1">
                <a:solidFill>
                  <a:srgbClr val="00E5FF"/>
                </a:solidFill>
              </a:defRPr>
            </a:pPr>
            <a:r>
              <a:t>BUDGET &amp; MID-RANGE MODE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Lite Tier (Budget / Edge)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Hardware Target: MediaTek Dimensity 6300/7300 or Snapdragon 6 Gen.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Fast directional evasion: Compact quantized weights for rapid evasion cues.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Adaptive downsampling (224x168): Minimizes thermal load and conserves battery.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Still 10x faster than cloud: Sub-50ms reaction time on sub-₹15,000 phones.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Ensures assistive safety is affordable to all citizens regardless of device cost.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989320"/>
            <a:ext cx="10698480" cy="502920"/>
          </a:xfrm>
          <a:prstGeom prst="roundRect">
            <a:avLst/>
          </a:prstGeom>
          <a:solidFill>
            <a:srgbClr val="141826"/>
          </a:solidFill>
          <a:ln>
            <a:solidFill>
              <a:srgbClr val="2D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⚙️  Auto-Hardware Detection at startup evaluates compute concurrency • Instant Manual Toggle: Press [T]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800"/>
                </a:solidFill>
              </a:defRPr>
            </a:pPr>
            <a:r>
              <a:t>THE STAGE CLIMAX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'Airplane Mode' Proof &amp; Live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0A8BE"/>
                </a:solidFill>
              </a:defRPr>
            </a:pPr>
            <a:r>
              <a:t>No mocked numbers or video recordings. Verifiably real comparison live on stage.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2926080"/>
          </a:xfrm>
          <a:prstGeom prst="roundRect">
            <a:avLst/>
          </a:prstGeom>
          <a:solidFill>
            <a:srgbClr val="141826"/>
          </a:solidFill>
          <a:ln w="15240">
            <a:solidFill>
              <a:srgbClr val="2D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LOCAL COMPUTE (MEASURED LIVE)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On-Device NPU (Drishti)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Execution Time: ~20ms to 30ms measured live with performance.now().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100% Offline: Operates seamlessly in total air-gapped isolation.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Full Functionality: Spatial guidance, medicine scan, and face recognition.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Deterministic: Zero network jitter or packet loss vulnerability.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2926080"/>
          </a:xfrm>
          <a:prstGeom prst="roundRect">
            <a:avLst/>
          </a:prstGeom>
          <a:solidFill>
            <a:srgbClr val="141826"/>
          </a:solidFill>
          <a:ln w="15240">
            <a:solidFill>
              <a:srgbClr val="2D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900" b="1">
                <a:solidFill>
                  <a:srgbClr val="F87171"/>
                </a:solidFill>
              </a:defRPr>
            </a:pPr>
            <a:r>
              <a:t>LIVE CLOUD NETWORK ROUND-TRIP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Cloud Vision API (Real Network Call)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Execution Time: 1,800ms to 3,500ms real HTTP payload round-trip.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Transmits genuine camera frame over live cellular/Wi-Fi connection.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In Airplane Mode: NETWORK REQUEST BLOCKED / CONNECTION FAILED.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Visibly proves on stage that cloud vision is vulnerable and slow.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10698480" cy="1371600"/>
          </a:xfrm>
          <a:prstGeom prst="roundRect">
            <a:avLst/>
          </a:prstGeom>
          <a:solidFill>
            <a:srgbClr val="1A0F0F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82880"/>
          <a:lstStyle/>
          <a:p>
            <a:pPr algn="ctr">
              <a:defRPr sz="1300" b="1">
                <a:solidFill>
                  <a:srgbClr val="F87171"/>
                </a:solidFill>
              </a:defRPr>
            </a:pPr>
            <a:r>
              <a:t>✈️  THE LIVE AIRPLANE MODE STAGE PROOF (BEAT 2)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1. Presenter visibly enables Airplane Mode on stage (or presses 'A').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2. Drishti displays bright red 'Airplane: ON (Air-Gapped)' status on the HUD.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3. Presenter runs Spatial Navigation, Medicine Scan, and Face Recognition with zero lag.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4. Triggering the cloud benchmark visibly fails with network blocked, proving 100% offline autonomy.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800"/>
                </a:solidFill>
              </a:defRPr>
            </a:pPr>
            <a:r>
              <a:t>INCLUSIVITY &amp; VERNACULAR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7 Major Indian Languages • Zero Barriers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0A8BE"/>
                </a:solidFill>
              </a:defRPr>
            </a:pPr>
            <a:r>
              <a:t>True independence requires speech in the user's native tongue with natural, understandable voice: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417320" cy="1188720"/>
          </a:xfrm>
          <a:prstGeom prst="roundRect">
            <a:avLst/>
          </a:prstGeom>
          <a:solidFill>
            <a:srgbClr val="141826"/>
          </a:solidFill>
          <a:ln>
            <a:solidFill>
              <a:srgbClr val="FF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1600" b="1">
                <a:solidFill>
                  <a:srgbClr val="FF7800"/>
                </a:solidFill>
              </a:defRPr>
            </a:pPr>
            <a:r>
              <a:t>🏛️ తెలుగు</a:t>
            </a:r>
          </a:p>
          <a:p>
            <a:pPr algn="ctr">
              <a:defRPr sz="900">
                <a:solidFill>
                  <a:srgbClr val="A0A8BE"/>
                </a:solidFill>
              </a:defRPr>
            </a:pPr>
            <a:r>
              <a:t>Telugu (Host)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920240"/>
            <a:ext cx="1417320" cy="1188720"/>
          </a:xfrm>
          <a:prstGeom prst="roundRect">
            <a:avLst/>
          </a:prstGeom>
          <a:solidFill>
            <a:srgbClr val="14182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🇮🇳 हिन्दी</a:t>
            </a:r>
          </a:p>
          <a:p>
            <a:pPr algn="ctr">
              <a:defRPr sz="900">
                <a:solidFill>
                  <a:srgbClr val="A0A8BE"/>
                </a:solidFill>
              </a:defRPr>
            </a:pPr>
            <a:r>
              <a:t>Hindi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920240"/>
            <a:ext cx="1417320" cy="1188720"/>
          </a:xfrm>
          <a:prstGeom prst="roundRect">
            <a:avLst/>
          </a:prstGeom>
          <a:solidFill>
            <a:srgbClr val="141826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1600" b="1">
                <a:solidFill>
                  <a:srgbClr val="00E5FF"/>
                </a:solidFill>
              </a:defRPr>
            </a:pPr>
            <a:r>
              <a:t>🇮🇳 English</a:t>
            </a:r>
          </a:p>
          <a:p>
            <a:pPr algn="ctr">
              <a:defRPr sz="900">
                <a:solidFill>
                  <a:srgbClr val="A0A8BE"/>
                </a:solidFill>
              </a:defRPr>
            </a:pPr>
            <a:r>
              <a:t>Indian English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59" y="1920240"/>
            <a:ext cx="1417320" cy="1188720"/>
          </a:xfrm>
          <a:prstGeom prst="roundRect">
            <a:avLst/>
          </a:prstGeom>
          <a:solidFill>
            <a:srgbClr val="14182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🇮🇳 தமிழ்</a:t>
            </a:r>
          </a:p>
          <a:p>
            <a:pPr algn="ctr">
              <a:defRPr sz="900">
                <a:solidFill>
                  <a:srgbClr val="A0A8BE"/>
                </a:solidFill>
              </a:defRPr>
            </a:pPr>
            <a:r>
              <a:t>Tamil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1920240"/>
            <a:ext cx="1417320" cy="1188720"/>
          </a:xfrm>
          <a:prstGeom prst="roundRect">
            <a:avLst/>
          </a:prstGeom>
          <a:solidFill>
            <a:srgbClr val="141826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🇮🇳 ಕನ್ನಡ</a:t>
            </a:r>
          </a:p>
          <a:p>
            <a:pPr algn="ctr">
              <a:defRPr sz="900">
                <a:solidFill>
                  <a:srgbClr val="A0A8BE"/>
                </a:solidFill>
              </a:defRPr>
            </a:pPr>
            <a:r>
              <a:t>Kannada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920240"/>
            <a:ext cx="1417320" cy="1188720"/>
          </a:xfrm>
          <a:prstGeom prst="roundRect">
            <a:avLst/>
          </a:prstGeom>
          <a:solidFill>
            <a:srgbClr val="14182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🇮🇳 मराठी</a:t>
            </a:r>
          </a:p>
          <a:p>
            <a:pPr algn="ctr">
              <a:defRPr sz="900">
                <a:solidFill>
                  <a:srgbClr val="A0A8BE"/>
                </a:solidFill>
              </a:defRPr>
            </a:pPr>
            <a:r>
              <a:t>Marathi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1920240"/>
            <a:ext cx="1417320" cy="1188720"/>
          </a:xfrm>
          <a:prstGeom prst="roundRect">
            <a:avLst/>
          </a:prstGeom>
          <a:solidFill>
            <a:srgbClr val="141826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🇮🇳 বাংলা</a:t>
            </a:r>
          </a:p>
          <a:p>
            <a:pPr algn="ctr">
              <a:defRPr sz="900">
                <a:solidFill>
                  <a:srgbClr val="A0A8BE"/>
                </a:solidFill>
              </a:defRPr>
            </a:pPr>
            <a:r>
              <a:t>Bengali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5212080" cy="3017520"/>
          </a:xfrm>
          <a:prstGeom prst="roundRect">
            <a:avLst/>
          </a:prstGeom>
          <a:solidFill>
            <a:srgbClr val="141826"/>
          </a:solidFill>
          <a:ln w="15240">
            <a:solidFill>
              <a:srgbClr val="2D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900" b="1">
                <a:solidFill>
                  <a:srgbClr val="FF7800"/>
                </a:solidFill>
              </a:defRPr>
            </a:pPr>
            <a:r>
              <a:t>FEATURE 1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Dynamic UI &amp; Voice Synchronization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Selecting any language pill instantly translates all 4 on-screen action buttons.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Button labels (Spatial Guidance, Medicine Scan, Benchmark, Faces) switch in real time.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Screen-reader ARIA accessibility labels adapt dynamically to chosen language.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Instant shortcut cycle with 'Key L' or click on interactive top navigation pills.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383280"/>
            <a:ext cx="5212080" cy="3017520"/>
          </a:xfrm>
          <a:prstGeom prst="roundRect">
            <a:avLst/>
          </a:prstGeom>
          <a:solidFill>
            <a:srgbClr val="141826"/>
          </a:solidFill>
          <a:ln w="15240">
            <a:solidFill>
              <a:srgbClr val="2D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900" b="1">
                <a:solidFill>
                  <a:srgbClr val="00E5FF"/>
                </a:solidFill>
              </a:defRPr>
            </a:pPr>
            <a:r>
              <a:t>FEATURE 2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Acoustic Phonetic Bridge (Smooth Vocals)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Solves the lack of native regional TTS voices on budget devices or Windows/Chrome.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Automatically maps Indic phonetics to Indian neural speech synthesizers.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Prosodic comma pacing: Relaxed 0.88x speed prevents rushed, unintelligible output.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Guarantees that Telugu, Tamil, Kannada, Marathi &amp; Bengali speak aloud cleanly.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800"/>
                </a:solidFill>
              </a:defRPr>
            </a:pPr>
            <a:r>
              <a:t>EXECUTION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3-Minute Championship Stage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0A8BE"/>
                </a:solidFill>
              </a:defRPr>
            </a:pPr>
            <a:r>
              <a:t>Disciplined, high-energy live stage demonstration engineered to captivate hackathon judges: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698480" cy="777240"/>
          </a:xfrm>
          <a:prstGeom prst="roundRect">
            <a:avLst/>
          </a:prstGeom>
          <a:solidFill>
            <a:srgbClr val="141826"/>
          </a:solidFill>
          <a:ln>
            <a:solidFill>
              <a:srgbClr val="2D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300" b="1">
                <a:solidFill>
                  <a:srgbClr val="FF7800"/>
                </a:solidFill>
              </a:defRPr>
            </a:pPr>
            <a:r>
              <a:t>0:00 - 0:30  |  The Hook &amp; Cloud Vulnerability</a:t>
            </a:r>
          </a:p>
          <a:p>
            <a:pPr>
              <a:defRPr sz="1000">
                <a:solidFill>
                  <a:srgbClr val="A0A8BE"/>
                </a:solidFill>
              </a:defRPr>
            </a:pPr>
            <a:r>
              <a:t>Highlight 40M target users in India. Explain why 2s cloud lag in traffic causes collisions.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10698480" cy="777240"/>
          </a:xfrm>
          <a:prstGeom prst="roundRect">
            <a:avLst/>
          </a:prstGeom>
          <a:solidFill>
            <a:srgbClr val="141826"/>
          </a:solidFill>
          <a:ln>
            <a:solidFill>
              <a:srgbClr val="2D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300" b="1">
                <a:solidFill>
                  <a:srgbClr val="F87171"/>
                </a:solidFill>
              </a:defRPr>
            </a:pPr>
            <a:r>
              <a:t>0:30 - 1:10  |  Airplane Mode Proof + Spatial Narration</a:t>
            </a:r>
          </a:p>
          <a:p>
            <a:pPr>
              <a:defRPr sz="1000">
                <a:solidFill>
                  <a:srgbClr val="A0A8BE"/>
                </a:solidFill>
              </a:defRPr>
            </a:pPr>
            <a:r>
              <a:t>Flip phone to Airplane Mode (Key A). Start 12-sector clock navigation (Key 1) with linear haptics.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10698480" cy="777240"/>
          </a:xfrm>
          <a:prstGeom prst="roundRect">
            <a:avLst/>
          </a:prstGeom>
          <a:solidFill>
            <a:srgbClr val="141826"/>
          </a:solidFill>
          <a:ln>
            <a:solidFill>
              <a:srgbClr val="2D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1:10 - 1:50  |  Medicine Smart-Scan in Airplane Mode</a:t>
            </a:r>
          </a:p>
          <a:p>
            <a:pPr>
              <a:defRPr sz="1000">
                <a:solidFill>
                  <a:srgbClr val="A0A8BE"/>
                </a:solidFill>
              </a:defRPr>
            </a:pPr>
            <a:r>
              <a:t>Point at Dolo 650 strip (Key 2). Reads brand, expiry 11/2027, and dosage aloud in Telugu/Hindi.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10698480" cy="777240"/>
          </a:xfrm>
          <a:prstGeom prst="roundRect">
            <a:avLst/>
          </a:prstGeom>
          <a:solidFill>
            <a:srgbClr val="141826"/>
          </a:solidFill>
          <a:ln>
            <a:solidFill>
              <a:srgbClr val="2D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300" b="1">
                <a:solidFill>
                  <a:srgbClr val="00E5FF"/>
                </a:solidFill>
              </a:defRPr>
            </a:pPr>
            <a:r>
              <a:t>1:50 - 2:20  |  'Who's Near Me' Face Recognition</a:t>
            </a:r>
          </a:p>
          <a:p>
            <a:pPr>
              <a:defRPr sz="1000">
                <a:solidFill>
                  <a:srgbClr val="A0A8BE"/>
                </a:solidFill>
              </a:defRPr>
            </a:pPr>
            <a:r>
              <a:t>Teammate steps in front (Key 4). Double-heartbeat vibration + whispered contact proximity alert.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77840"/>
            <a:ext cx="10698480" cy="777240"/>
          </a:xfrm>
          <a:prstGeom prst="roundRect">
            <a:avLst/>
          </a:prstGeom>
          <a:solidFill>
            <a:srgbClr val="141826"/>
          </a:solidFill>
          <a:ln>
            <a:solidFill>
              <a:srgbClr val="2D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300" b="1">
                <a:solidFill>
                  <a:srgbClr val="FFD700"/>
                </a:solidFill>
              </a:defRPr>
            </a:pPr>
            <a:r>
              <a:t>2:20 - 3:00  |  Live Benchmark Telemetry &amp; Close</a:t>
            </a:r>
          </a:p>
          <a:p>
            <a:pPr>
              <a:defRPr sz="1000">
                <a:solidFill>
                  <a:srgbClr val="A0A8BE"/>
                </a:solidFill>
              </a:defRPr>
            </a:pPr>
            <a:r>
              <a:t>Trigger live HTTP speed test (Key 3). Point to live stopwatch: 24ms local vs failed/slow cloud.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800"/>
                </a:solidFill>
              </a:defRPr>
            </a:pPr>
            <a:r>
              <a:t>READY FOR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Drishti AI: Open-Source, Tested &amp;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0A8BE"/>
                </a:solidFill>
              </a:defRPr>
            </a:pPr>
            <a:r>
              <a:t>Engineered for real-world impact across 40M+ visually impaired individuals in India.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3291840"/>
          </a:xfrm>
          <a:prstGeom prst="roundRect">
            <a:avLst/>
          </a:prstGeom>
          <a:solidFill>
            <a:srgbClr val="141826"/>
          </a:solidFill>
          <a:ln w="15240">
            <a:solidFill>
              <a:srgbClr val="2D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LIVE VERCEL LINK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Live Production Web App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Production URL: https://drishti-seven-mu.vercel.app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Deployed live on Vercel with automated CI/CD continuous deployment.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PWA enabled: Installable directly onto any Android/iQOO phone.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Interactive Pitch Deck live at: https://drishti-seven-mu.vercel.app/pitch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Full touch gestures: Double-tap navigation, swipe-up medicine scan.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212080" cy="3291840"/>
          </a:xfrm>
          <a:prstGeom prst="roundRect">
            <a:avLst/>
          </a:prstGeom>
          <a:solidFill>
            <a:srgbClr val="141826"/>
          </a:solidFill>
          <a:ln w="15240">
            <a:solidFill>
              <a:srgbClr val="2D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900" b="1">
                <a:solidFill>
                  <a:srgbClr val="00E5FF"/>
                </a:solidFill>
              </a:defRPr>
            </a:pPr>
            <a:r>
              <a:t>GITHUB REPOSITORY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GitHub Repository &amp; QA Rigor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GitHub: https://github.com/M-L-Arjun/drishti-ai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111 Automated Unit Tests: 100% Pass Rate (0 failures).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Tests cover: RegEx pharma parser, tier manager, benchmark, and 7 languages.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Open Source under MIT License.</a:t>
            </a:r>
          </a:p>
          <a:p>
            <a:pPr>
              <a:spcAft>
                <a:spcPts val="400"/>
              </a:spcAft>
              <a:defRPr sz="1100">
                <a:solidFill>
                  <a:srgbClr val="A0A8BE"/>
                </a:solidFill>
              </a:defRPr>
            </a:pPr>
            <a:r>
              <a:t>•  Zero external commercial API dependencies in core assistive loop.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120E08"/>
          </a:solidFill>
          <a:ln>
            <a:solidFill>
              <a:srgbClr val="FF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1400" b="1">
                <a:solidFill>
                  <a:srgbClr val="FFD700"/>
                </a:solidFill>
              </a:defRPr>
            </a:pPr>
            <a:r>
              <a:t>Team Drishti AI  •  Built for iQOO Hackathon 2026 (Hyderabad City Battle)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Thank you, respected judges! We are now open for live Q&amp;A.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