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097280"/>
            <a:ext cx="5852160" cy="438912"/>
          </a:xfrm>
          <a:prstGeom prst="roundRect">
            <a:avLst/>
          </a:prstGeom>
          <a:solidFill>
            <a:srgbClr val="19160A"/>
          </a:solidFill>
          <a:ln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D700"/>
                </a:solidFill>
              </a:defRPr>
            </a:pPr>
            <a:r>
              <a:t>SMART LIVING / ACCESSIBILITY TECH  •  iQOO HACKATHON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515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400" b="1">
                <a:solidFill>
                  <a:srgbClr val="FFFFFF"/>
                </a:solidFill>
              </a:defRPr>
            </a:pPr>
            <a:r>
              <a:t>Drishti</a:t>
            </a:r>
          </a:p>
          <a:p>
            <a:pPr>
              <a:spcBef>
                <a:spcPts val="400"/>
              </a:spcBef>
              <a:defRPr sz="1800">
                <a:solidFill>
                  <a:srgbClr val="FFD700"/>
                </a:solidFill>
              </a:defRPr>
            </a:pPr>
            <a:r>
              <a:t>दृष्टि  •  Phone-First On-Device AI Sensory Companion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566160"/>
            <a:ext cx="10515600" cy="1188720"/>
          </a:xfrm>
          <a:prstGeom prst="roundRect">
            <a:avLst/>
          </a:prstGeom>
          <a:solidFill>
            <a:srgbClr val="121520"/>
          </a:solidFill>
          <a:ln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256032"/>
          <a:lstStyle/>
          <a:p>
            <a:pPr algn="ctr">
              <a:defRPr sz="1900" b="1">
                <a:solidFill>
                  <a:srgbClr val="FFF0B4"/>
                </a:solidFill>
              </a:defRPr>
            </a:pPr>
            <a:r>
              <a:t>“An instant, private, offline sensory companion for the visually impaired”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5074920"/>
            <a:ext cx="2542032" cy="1097280"/>
          </a:xfrm>
          <a:prstGeom prst="roundRect">
            <a:avLst/>
          </a:prstGeom>
          <a:solidFill>
            <a:srgbClr val="121520"/>
          </a:solidFill>
          <a:ln>
            <a:solidFill>
              <a:srgbClr val="2A30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28600"/>
          <a:lstStyle/>
          <a:p>
            <a:pPr algn="ctr">
              <a:defRPr sz="1400" b="1">
                <a:solidFill>
                  <a:srgbClr val="FFD700"/>
                </a:solidFill>
              </a:defRPr>
            </a:pPr>
            <a:r>
              <a:t>Instant Reaction</a:t>
            </a:r>
          </a:p>
          <a:p>
            <a:pPr algn="ctr">
              <a:defRPr sz="1000">
                <a:solidFill>
                  <a:srgbClr val="AAB2C8"/>
                </a:solidFill>
              </a:defRPr>
            </a:pPr>
            <a:r>
              <a:t>Zero cloud latency hazard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93008" y="5074920"/>
            <a:ext cx="2542032" cy="1097280"/>
          </a:xfrm>
          <a:prstGeom prst="roundRect">
            <a:avLst/>
          </a:prstGeom>
          <a:solidFill>
            <a:srgbClr val="121520"/>
          </a:solidFill>
          <a:ln>
            <a:solidFill>
              <a:srgbClr val="2A30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28600"/>
          <a:lstStyle/>
          <a:p>
            <a:pPr algn="ctr">
              <a:defRPr sz="1400" b="1">
                <a:solidFill>
                  <a:srgbClr val="FFD700"/>
                </a:solidFill>
              </a:defRPr>
            </a:pPr>
            <a:r>
              <a:t>100% Private</a:t>
            </a:r>
          </a:p>
          <a:p>
            <a:pPr algn="ctr">
              <a:defRPr sz="1000">
                <a:solidFill>
                  <a:srgbClr val="AAB2C8"/>
                </a:solidFill>
              </a:defRPr>
            </a:pPr>
            <a:r>
              <a:t>No video leaves device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63056" y="5074920"/>
            <a:ext cx="2542032" cy="1097280"/>
          </a:xfrm>
          <a:prstGeom prst="roundRect">
            <a:avLst/>
          </a:prstGeom>
          <a:solidFill>
            <a:srgbClr val="121520"/>
          </a:solidFill>
          <a:ln>
            <a:solidFill>
              <a:srgbClr val="2A30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28600"/>
          <a:lstStyle/>
          <a:p>
            <a:pPr algn="ctr">
              <a:defRPr sz="1400" b="1">
                <a:solidFill>
                  <a:srgbClr val="FFD700"/>
                </a:solidFill>
              </a:defRPr>
            </a:pPr>
            <a:r>
              <a:t>Fully Offline</a:t>
            </a:r>
          </a:p>
          <a:p>
            <a:pPr algn="ctr">
              <a:defRPr sz="1000">
                <a:solidFill>
                  <a:srgbClr val="AAB2C8"/>
                </a:solidFill>
              </a:defRPr>
            </a:pPr>
            <a:r>
              <a:t>Verified in Airplane Mode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33104" y="5074920"/>
            <a:ext cx="2542032" cy="1097280"/>
          </a:xfrm>
          <a:prstGeom prst="roundRect">
            <a:avLst/>
          </a:prstGeom>
          <a:solidFill>
            <a:srgbClr val="121520"/>
          </a:solidFill>
          <a:ln>
            <a:solidFill>
              <a:srgbClr val="2A30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28600"/>
          <a:lstStyle/>
          <a:p>
            <a:pPr algn="ctr">
              <a:defRPr sz="1400" b="1">
                <a:solidFill>
                  <a:srgbClr val="FFD700"/>
                </a:solidFill>
              </a:defRPr>
            </a:pPr>
            <a:r>
              <a:t>Smart Living</a:t>
            </a:r>
          </a:p>
          <a:p>
            <a:pPr algn="ctr">
              <a:defRPr sz="1000">
                <a:solidFill>
                  <a:srgbClr val="AAB2C8"/>
                </a:solidFill>
              </a:defRPr>
            </a:pPr>
            <a:r>
              <a:t>Everyday independence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1148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D700"/>
                </a:solidFill>
              </a:defRPr>
            </a:pPr>
            <a:r>
              <a:t>THE REAL-WORLD CRISIS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The Problem: Why Existing Assistive Tech Fails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515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AAB2C8"/>
                </a:solidFill>
              </a:defRPr>
            </a:pPr>
            <a:r>
              <a:t>Over 40 million people in India live with severe visual impairment. Cloud-dependent aids fail them in 3 critical ways: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920240"/>
            <a:ext cx="3364992" cy="4297680"/>
          </a:xfrm>
          <a:prstGeom prst="roundRect">
            <a:avLst/>
          </a:prstGeom>
          <a:solidFill>
            <a:srgbClr val="121520"/>
          </a:solidFill>
          <a:ln w="1524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56032" bIns="228600"/>
          <a:lstStyle/>
          <a:p>
            <a:pPr algn="ctr">
              <a:defRPr sz="900" b="1">
                <a:solidFill>
                  <a:srgbClr val="F87171"/>
                </a:solidFill>
              </a:defRPr>
            </a:pPr>
            <a:r>
              <a:t>HAZARD 1</a:t>
            </a:r>
          </a:p>
          <a:p>
            <a:pPr>
              <a:spcAft>
                <a:spcPts val="800"/>
              </a:spcAft>
              <a:defRPr sz="1600" b="1">
                <a:solidFill>
                  <a:srgbClr val="FFFFFF"/>
                </a:solidFill>
              </a:defRPr>
            </a:pPr>
            <a:r>
              <a:t>⚠️  Cloud Latency is Dangerous</a:t>
            </a:r>
          </a:p>
          <a:p>
            <a:pPr>
              <a:spcAft>
                <a:spcPts val="400"/>
              </a:spcAft>
              <a:defRPr sz="1100">
                <a:solidFill>
                  <a:srgbClr val="AAB2C8"/>
                </a:solidFill>
              </a:defRPr>
            </a:pPr>
            <a:r>
              <a:t>•  Cloud vision APIs require 2 to 5 seconds per inference.</a:t>
            </a:r>
          </a:p>
          <a:p>
            <a:pPr>
              <a:spcAft>
                <a:spcPts val="400"/>
              </a:spcAft>
              <a:defRPr sz="1100">
                <a:solidFill>
                  <a:srgbClr val="AAB2C8"/>
                </a:solidFill>
              </a:defRPr>
            </a:pPr>
            <a:r>
              <a:t>•  A pedestrian moving at 1.2 m/s travels 4 to 6 feet in that delay window.</a:t>
            </a:r>
          </a:p>
          <a:p>
            <a:pPr>
              <a:spcAft>
                <a:spcPts val="400"/>
              </a:spcAft>
              <a:defRPr sz="1100">
                <a:solidFill>
                  <a:srgbClr val="AAB2C8"/>
                </a:solidFill>
              </a:defRPr>
            </a:pPr>
            <a:r>
              <a:t>•  In obstacle avoidance, a 2-second delay causes physical collisions.</a:t>
            </a:r>
          </a:p>
          <a:p>
            <a:pPr>
              <a:spcAft>
                <a:spcPts val="400"/>
              </a:spcAft>
              <a:defRPr sz="1100">
                <a:solidFill>
                  <a:srgbClr val="AAB2C8"/>
                </a:solidFill>
              </a:defRPr>
            </a:pPr>
            <a:r>
              <a:t>•  Assistive navigation cannot afford network lag.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920240"/>
            <a:ext cx="3364992" cy="4297680"/>
          </a:xfrm>
          <a:prstGeom prst="roundRect">
            <a:avLst/>
          </a:prstGeom>
          <a:solidFill>
            <a:srgbClr val="121520"/>
          </a:solidFill>
          <a:ln w="1524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56032" bIns="228600"/>
          <a:lstStyle/>
          <a:p>
            <a:pPr algn="ctr">
              <a:defRPr sz="900" b="1">
                <a:solidFill>
                  <a:srgbClr val="FFD700"/>
                </a:solidFill>
              </a:defRPr>
            </a:pPr>
            <a:r>
              <a:t>HAZARD 2</a:t>
            </a:r>
          </a:p>
          <a:p>
            <a:pPr>
              <a:spcAft>
                <a:spcPts val="800"/>
              </a:spcAft>
              <a:defRPr sz="1600" b="1">
                <a:solidFill>
                  <a:srgbClr val="FFFFFF"/>
                </a:solidFill>
              </a:defRPr>
            </a:pPr>
            <a:r>
              <a:t>🔒  Severe Privacy Vulnerability</a:t>
            </a:r>
          </a:p>
          <a:p>
            <a:pPr>
              <a:spcAft>
                <a:spcPts val="400"/>
              </a:spcAft>
              <a:defRPr sz="1100">
                <a:solidFill>
                  <a:srgbClr val="AAB2C8"/>
                </a:solidFill>
              </a:defRPr>
            </a:pPr>
            <a:r>
              <a:t>•  Users are forced to stream live camera feeds to commercial servers.</a:t>
            </a:r>
          </a:p>
          <a:p>
            <a:pPr>
              <a:spcAft>
                <a:spcPts val="400"/>
              </a:spcAft>
              <a:defRPr sz="1100">
                <a:solidFill>
                  <a:srgbClr val="AAB2C8"/>
                </a:solidFill>
              </a:defRPr>
            </a:pPr>
            <a:r>
              <a:t>•  Exposes private bedrooms, personal ID cards (Aadhaar), and prescriptions.</a:t>
            </a:r>
          </a:p>
          <a:p>
            <a:pPr>
              <a:spcAft>
                <a:spcPts val="400"/>
              </a:spcAft>
              <a:defRPr sz="1100">
                <a:solidFill>
                  <a:srgbClr val="AAB2C8"/>
                </a:solidFill>
              </a:defRPr>
            </a:pPr>
            <a:r>
              <a:t>•  Third-party logging creates massive biometric and spatial risk.</a:t>
            </a:r>
          </a:p>
          <a:p>
            <a:pPr>
              <a:spcAft>
                <a:spcPts val="400"/>
              </a:spcAft>
              <a:defRPr sz="1100">
                <a:solidFill>
                  <a:srgbClr val="AAB2C8"/>
                </a:solidFill>
              </a:defRPr>
            </a:pPr>
            <a:r>
              <a:t>•  Users sacrifice their privacy just to 'see'.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79" y="1920240"/>
            <a:ext cx="3364992" cy="4297680"/>
          </a:xfrm>
          <a:prstGeom prst="roundRect">
            <a:avLst/>
          </a:prstGeom>
          <a:solidFill>
            <a:srgbClr val="121520"/>
          </a:solidFill>
          <a:ln w="1524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56032" bIns="228600"/>
          <a:lstStyle/>
          <a:p>
            <a:pPr algn="ctr">
              <a:defRPr sz="900" b="1">
                <a:solidFill>
                  <a:srgbClr val="00E5FF"/>
                </a:solidFill>
              </a:defRPr>
            </a:pPr>
            <a:r>
              <a:t>HAZARD 3</a:t>
            </a:r>
          </a:p>
          <a:p>
            <a:pPr>
              <a:spcAft>
                <a:spcPts val="800"/>
              </a:spcAft>
              <a:defRPr sz="1600" b="1">
                <a:solidFill>
                  <a:srgbClr val="FFFFFF"/>
                </a:solidFill>
              </a:defRPr>
            </a:pPr>
            <a:r>
              <a:t>📡  Connectivity Fragility</a:t>
            </a:r>
          </a:p>
          <a:p>
            <a:pPr>
              <a:spcAft>
                <a:spcPts val="400"/>
              </a:spcAft>
              <a:defRPr sz="1100">
                <a:solidFill>
                  <a:srgbClr val="AAB2C8"/>
                </a:solidFill>
              </a:defRPr>
            </a:pPr>
            <a:r>
              <a:t>•  Real Indian transit corridors frequently lack reliable internet.</a:t>
            </a:r>
          </a:p>
          <a:p>
            <a:pPr>
              <a:spcAft>
                <a:spcPts val="400"/>
              </a:spcAft>
              <a:defRPr sz="1100">
                <a:solidFill>
                  <a:srgbClr val="AAB2C8"/>
                </a:solidFill>
              </a:defRPr>
            </a:pPr>
            <a:r>
              <a:t>•  Metro basements, elevators, rural transit, and stairwells fail.</a:t>
            </a:r>
          </a:p>
          <a:p>
            <a:pPr>
              <a:spcAft>
                <a:spcPts val="400"/>
              </a:spcAft>
              <a:defRPr sz="1100">
                <a:solidFill>
                  <a:srgbClr val="AAB2C8"/>
                </a:solidFill>
              </a:defRPr>
            </a:pPr>
            <a:r>
              <a:t>•  The moment connection drops, cloud-tethered apps instantly disable.</a:t>
            </a:r>
          </a:p>
          <a:p>
            <a:pPr>
              <a:spcAft>
                <a:spcPts val="400"/>
              </a:spcAft>
              <a:defRPr sz="1100">
                <a:solidFill>
                  <a:srgbClr val="AAB2C8"/>
                </a:solidFill>
              </a:defRPr>
            </a:pPr>
            <a:r>
              <a:t>•  Leaves visually impaired users stranded and blinded.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1148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D700"/>
                </a:solidFill>
              </a:defRPr>
            </a:pPr>
            <a:r>
              <a:t>FULLY ON-DEVICE AI COMPANION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The Solution: What Drishti Does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515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AAB2C8"/>
                </a:solidFill>
              </a:defRPr>
            </a:pPr>
            <a:r>
              <a:t>Runs 100% offline on local phone silicon with zero cloud calls across 4 core accessibility capabilities: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920240"/>
            <a:ext cx="5166360" cy="2148840"/>
          </a:xfrm>
          <a:prstGeom prst="roundRect">
            <a:avLst/>
          </a:prstGeom>
          <a:solidFill>
            <a:srgbClr val="121520"/>
          </a:solidFill>
          <a:ln w="1524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56032" bIns="228600"/>
          <a:lstStyle/>
          <a:p>
            <a:pPr algn="ctr">
              <a:defRPr sz="900" b="1">
                <a:solidFill>
                  <a:srgbClr val="FFD700"/>
                </a:solidFill>
              </a:defRPr>
            </a:pPr>
            <a:r>
              <a:t>CAPABILITY 1</a:t>
            </a:r>
          </a:p>
          <a:p>
            <a:pPr>
              <a:spcAft>
                <a:spcPts val="800"/>
              </a:spcAft>
              <a:defRPr sz="1600" b="1">
                <a:solidFill>
                  <a:srgbClr val="FFFFFF"/>
                </a:solidFill>
              </a:defRPr>
            </a:pPr>
            <a:r>
              <a:t>🧭  Spatial &amp; Scene Guidance</a:t>
            </a:r>
          </a:p>
          <a:p>
            <a:pPr>
              <a:spcAft>
                <a:spcPts val="400"/>
              </a:spcAft>
              <a:defRPr sz="1100">
                <a:solidFill>
                  <a:srgbClr val="AAB2C8"/>
                </a:solidFill>
              </a:defRPr>
            </a:pPr>
            <a:r>
              <a:t>•  Real-time obstacle narration via on-device vision model.</a:t>
            </a:r>
          </a:p>
          <a:p>
            <a:pPr>
              <a:spcAft>
                <a:spcPts val="400"/>
              </a:spcAft>
              <a:defRPr sz="1100">
                <a:solidFill>
                  <a:srgbClr val="AAB2C8"/>
                </a:solidFill>
              </a:defRPr>
            </a:pPr>
            <a:r>
              <a:t>•  Maps obstacles to 12 clock-face sectors (e.g. 'Obstacle at 2 o'clock, 3 ft').</a:t>
            </a:r>
          </a:p>
          <a:p>
            <a:pPr>
              <a:spcAft>
                <a:spcPts val="400"/>
              </a:spcAft>
              <a:defRPr sz="1100">
                <a:solidFill>
                  <a:srgbClr val="AAB2C8"/>
                </a:solidFill>
              </a:defRPr>
            </a:pPr>
            <a:r>
              <a:t>•  Directional linear haptic motor pulses guide user around hazards.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920240"/>
            <a:ext cx="5166360" cy="2148840"/>
          </a:xfrm>
          <a:prstGeom prst="roundRect">
            <a:avLst/>
          </a:prstGeom>
          <a:solidFill>
            <a:srgbClr val="121520"/>
          </a:solidFill>
          <a:ln w="15240">
            <a:solidFill>
              <a:srgbClr val="34C7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56032" bIns="228600"/>
          <a:lstStyle/>
          <a:p>
            <a:pPr algn="ctr">
              <a:defRPr sz="900" b="1">
                <a:solidFill>
                  <a:srgbClr val="34C759"/>
                </a:solidFill>
              </a:defRPr>
            </a:pPr>
            <a:r>
              <a:t>CAPABILITY 2</a:t>
            </a:r>
          </a:p>
          <a:p>
            <a:pPr>
              <a:spcAft>
                <a:spcPts val="800"/>
              </a:spcAft>
              <a:defRPr sz="1600" b="1">
                <a:solidFill>
                  <a:srgbClr val="FFFFFF"/>
                </a:solidFill>
              </a:defRPr>
            </a:pPr>
            <a:r>
              <a:t>💊  Smart-Scan for Medicine &amp; Packaging</a:t>
            </a:r>
          </a:p>
          <a:p>
            <a:pPr>
              <a:spcAft>
                <a:spcPts val="400"/>
              </a:spcAft>
              <a:defRPr sz="1100">
                <a:solidFill>
                  <a:srgbClr val="AAB2C8"/>
                </a:solidFill>
              </a:defRPr>
            </a:pPr>
            <a:r>
              <a:t>•  On-device OCR + local LLM filters noisy, cluttered packaging.</a:t>
            </a:r>
          </a:p>
          <a:p>
            <a:pPr>
              <a:spcAft>
                <a:spcPts val="400"/>
              </a:spcAft>
              <a:defRPr sz="1100">
                <a:solidFill>
                  <a:srgbClr val="AAB2C8"/>
                </a:solidFill>
              </a:defRPr>
            </a:pPr>
            <a:r>
              <a:t>•  Isolates just 3 critical pieces of info: Drug Name, Dosage, and Expiry Date.</a:t>
            </a:r>
          </a:p>
          <a:p>
            <a:pPr>
              <a:spcAft>
                <a:spcPts val="400"/>
              </a:spcAft>
              <a:defRPr sz="1100">
                <a:solidFill>
                  <a:srgbClr val="AAB2C8"/>
                </a:solidFill>
              </a:defRPr>
            </a:pPr>
            <a:r>
              <a:t>•  Vocalizes clear vernacular guidance ('Take after food').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4251960"/>
            <a:ext cx="5166360" cy="2148840"/>
          </a:xfrm>
          <a:prstGeom prst="roundRect">
            <a:avLst/>
          </a:prstGeom>
          <a:solidFill>
            <a:srgbClr val="121520"/>
          </a:solidFill>
          <a:ln w="1524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56032" bIns="228600"/>
          <a:lstStyle/>
          <a:p>
            <a:pPr algn="ctr">
              <a:defRPr sz="900" b="1">
                <a:solidFill>
                  <a:srgbClr val="00E5FF"/>
                </a:solidFill>
              </a:defRPr>
            </a:pPr>
            <a:r>
              <a:t>CAPABILITY 3</a:t>
            </a:r>
          </a:p>
          <a:p>
            <a:pPr>
              <a:spcAft>
                <a:spcPts val="800"/>
              </a:spcAft>
              <a:defRPr sz="1600" b="1">
                <a:solidFill>
                  <a:srgbClr val="FFFFFF"/>
                </a:solidFill>
              </a:defRPr>
            </a:pPr>
            <a:r>
              <a:t>👤  'Who's Near Me' Face Recognition</a:t>
            </a:r>
          </a:p>
          <a:p>
            <a:pPr>
              <a:spcAft>
                <a:spcPts val="400"/>
              </a:spcAft>
              <a:defRPr sz="1100">
                <a:solidFill>
                  <a:srgbClr val="AAB2C8"/>
                </a:solidFill>
              </a:defRPr>
            </a:pPr>
            <a:r>
              <a:t>•  On-device facial recognition of registered trusted contacts.</a:t>
            </a:r>
          </a:p>
          <a:p>
            <a:pPr>
              <a:spcAft>
                <a:spcPts val="400"/>
              </a:spcAft>
              <a:defRPr sz="1100">
                <a:solidFill>
                  <a:srgbClr val="AAB2C8"/>
                </a:solidFill>
              </a:defRPr>
            </a:pPr>
            <a:r>
              <a:t>•  Biometric vector embeddings stored strictly on-device with zero cloud upload.</a:t>
            </a:r>
          </a:p>
          <a:p>
            <a:pPr>
              <a:spcAft>
                <a:spcPts val="400"/>
              </a:spcAft>
              <a:defRPr sz="1100">
                <a:solidFill>
                  <a:srgbClr val="AAB2C8"/>
                </a:solidFill>
              </a:defRPr>
            </a:pPr>
            <a:r>
              <a:t>•  Discreet double-heartbeat vibration &amp; whispered prompt when friend approaches.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4251960"/>
            <a:ext cx="5166360" cy="2148840"/>
          </a:xfrm>
          <a:prstGeom prst="roundRect">
            <a:avLst/>
          </a:prstGeom>
          <a:solidFill>
            <a:srgbClr val="121520"/>
          </a:solidFill>
          <a:ln w="15240">
            <a:solidFill>
              <a:srgbClr val="FF6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56032" bIns="228600"/>
          <a:lstStyle/>
          <a:p>
            <a:pPr algn="ctr">
              <a:defRPr sz="900" b="1">
                <a:solidFill>
                  <a:srgbClr val="FF6F00"/>
                </a:solidFill>
              </a:defRPr>
            </a:pPr>
            <a:r>
              <a:t>CAPABILITY 4</a:t>
            </a:r>
          </a:p>
          <a:p>
            <a:pPr>
              <a:spcAft>
                <a:spcPts val="800"/>
              </a:spcAft>
              <a:defRPr sz="1600" b="1">
                <a:solidFill>
                  <a:srgbClr val="FFFFFF"/>
                </a:solidFill>
              </a:defRPr>
            </a:pPr>
            <a:r>
              <a:t>🎧  Pure Tactile &amp; Voice UX</a:t>
            </a:r>
          </a:p>
          <a:p>
            <a:pPr>
              <a:spcAft>
                <a:spcPts val="400"/>
              </a:spcAft>
              <a:defRPr sz="1100">
                <a:solidFill>
                  <a:srgbClr val="AAB2C8"/>
                </a:solidFill>
              </a:defRPr>
            </a:pPr>
            <a:r>
              <a:t>•  Eyes-free by design — absolutely no screen dependency anywhere.</a:t>
            </a:r>
          </a:p>
          <a:p>
            <a:pPr>
              <a:spcAft>
                <a:spcPts val="400"/>
              </a:spcAft>
              <a:defRPr sz="1100">
                <a:solidFill>
                  <a:srgbClr val="AAB2C8"/>
                </a:solidFill>
              </a:defRPr>
            </a:pPr>
            <a:r>
              <a:t>•  Multi-modal audio cues + rich linear haptic vibration feedback.</a:t>
            </a:r>
          </a:p>
          <a:p>
            <a:pPr>
              <a:spcAft>
                <a:spcPts val="400"/>
              </a:spcAft>
              <a:defRPr sz="1100">
                <a:solidFill>
                  <a:srgbClr val="AAB2C8"/>
                </a:solidFill>
              </a:defRPr>
            </a:pPr>
            <a:r>
              <a:t>•  Natural back-tap and screen gestures built for blind accessibility.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1148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D700"/>
                </a:solidFill>
              </a:defRPr>
            </a:pPr>
            <a:r>
              <a:t>CORE DIFFERENTIATORS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What Makes Drishti Different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515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AAB2C8"/>
                </a:solidFill>
              </a:defRPr>
            </a:pPr>
            <a:r>
              <a:t>Built on engineering integrity, real-world hardware diversity, and verified offline execution: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920240"/>
            <a:ext cx="5166360" cy="2148840"/>
          </a:xfrm>
          <a:prstGeom prst="roundRect">
            <a:avLst/>
          </a:prstGeom>
          <a:solidFill>
            <a:srgbClr val="121520"/>
          </a:solidFill>
          <a:ln w="1524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56032" bIns="228600"/>
          <a:lstStyle/>
          <a:p>
            <a:pPr algn="ctr">
              <a:defRPr sz="900" b="1">
                <a:solidFill>
                  <a:srgbClr val="FFD700"/>
                </a:solidFill>
              </a:defRPr>
            </a:pPr>
            <a:r>
              <a:t>AFFORDABLE HARDWARE DIVERSITY</a:t>
            </a:r>
          </a:p>
          <a:p>
            <a:pPr>
              <a:spcAft>
                <a:spcPts val="800"/>
              </a:spcAft>
              <a:defRPr sz="1600" b="1">
                <a:solidFill>
                  <a:srgbClr val="FFFFFF"/>
                </a:solidFill>
              </a:defRPr>
            </a:pPr>
            <a:r>
              <a:t>📱  Tiered Model Strategy</a:t>
            </a:r>
          </a:p>
          <a:p>
            <a:pPr>
              <a:spcAft>
                <a:spcPts val="400"/>
              </a:spcAft>
              <a:defRPr sz="1100">
                <a:solidFill>
                  <a:srgbClr val="AAB2C8"/>
                </a:solidFill>
              </a:defRPr>
            </a:pPr>
            <a:r>
              <a:t>•  Standard Tier: Full-quality vision model running on flagship NPUs.</a:t>
            </a:r>
          </a:p>
          <a:p>
            <a:pPr>
              <a:spcAft>
                <a:spcPts val="400"/>
              </a:spcAft>
              <a:defRPr sz="1100">
                <a:solidFill>
                  <a:srgbClr val="AAB2C8"/>
                </a:solidFill>
              </a:defRPr>
            </a:pPr>
            <a:r>
              <a:t>•  Lite Tier: Fast, lightweight quantized model optimized for budget chips.</a:t>
            </a:r>
          </a:p>
          <a:p>
            <a:pPr>
              <a:spcAft>
                <a:spcPts val="400"/>
              </a:spcAft>
              <a:defRPr sz="1100">
                <a:solidFill>
                  <a:srgbClr val="AAB2C8"/>
                </a:solidFill>
              </a:defRPr>
            </a:pPr>
            <a:r>
              <a:t>•  Works on affordable sub-₹15,000 devices (Dimensity 6300) — not just flagships.</a:t>
            </a:r>
          </a:p>
          <a:p>
            <a:pPr>
              <a:spcAft>
                <a:spcPts val="400"/>
              </a:spcAft>
              <a:defRPr sz="1100">
                <a:solidFill>
                  <a:srgbClr val="AAB2C8"/>
                </a:solidFill>
              </a:defRPr>
            </a:pPr>
            <a:r>
              <a:t>•  Democratizes assistive technology for all socioeconomic groups.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920240"/>
            <a:ext cx="5166360" cy="2148840"/>
          </a:xfrm>
          <a:prstGeom prst="roundRect">
            <a:avLst/>
          </a:prstGeom>
          <a:solidFill>
            <a:srgbClr val="121520"/>
          </a:solidFill>
          <a:ln w="1524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56032" bIns="228600"/>
          <a:lstStyle/>
          <a:p>
            <a:pPr algn="ctr">
              <a:defRPr sz="900" b="1">
                <a:solidFill>
                  <a:srgbClr val="00E5FF"/>
                </a:solidFill>
              </a:defRPr>
            </a:pPr>
            <a:r>
              <a:t>PROVEN ON STAGE, NOT CLAIMED</a:t>
            </a:r>
          </a:p>
          <a:p>
            <a:pPr>
              <a:spcAft>
                <a:spcPts val="800"/>
              </a:spcAft>
              <a:defRPr sz="1600" b="1">
                <a:solidFill>
                  <a:srgbClr val="FFFFFF"/>
                </a:solidFill>
              </a:defRPr>
            </a:pPr>
            <a:r>
              <a:t>⏱️  Live Unsimulated Latency Benchmark</a:t>
            </a:r>
          </a:p>
          <a:p>
            <a:pPr>
              <a:spcAft>
                <a:spcPts val="400"/>
              </a:spcAft>
              <a:defRPr sz="1100">
                <a:solidFill>
                  <a:srgbClr val="AAB2C8"/>
                </a:solidFill>
              </a:defRPr>
            </a:pPr>
            <a:r>
              <a:t>•  Genuine live HTTP cloud round-trip vs. on-device NPU stopwatch.</a:t>
            </a:r>
          </a:p>
          <a:p>
            <a:pPr>
              <a:spcAft>
                <a:spcPts val="400"/>
              </a:spcAft>
              <a:defRPr sz="1100">
                <a:solidFill>
                  <a:srgbClr val="AAB2C8"/>
                </a:solidFill>
              </a:defRPr>
            </a:pPr>
            <a:r>
              <a:t>•  Proven live on stage with real network calls — not hardcoded or assumed.</a:t>
            </a:r>
          </a:p>
          <a:p>
            <a:pPr>
              <a:spcAft>
                <a:spcPts val="400"/>
              </a:spcAft>
              <a:defRPr sz="1100">
                <a:solidFill>
                  <a:srgbClr val="AAB2C8"/>
                </a:solidFill>
              </a:defRPr>
            </a:pPr>
            <a:r>
              <a:t>•  Measured live per device; demonstrates order-of-magnitude speedup over cloud.</a:t>
            </a:r>
          </a:p>
          <a:p>
            <a:pPr>
              <a:spcAft>
                <a:spcPts val="400"/>
              </a:spcAft>
              <a:defRPr sz="1100">
                <a:solidFill>
                  <a:srgbClr val="AAB2C8"/>
                </a:solidFill>
              </a:defRPr>
            </a:pPr>
            <a:r>
              <a:t>•  Telemetry HUD visibly contrasts local speed vs. cloud network lag.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4251960"/>
            <a:ext cx="5166360" cy="2148840"/>
          </a:xfrm>
          <a:prstGeom prst="roundRect">
            <a:avLst/>
          </a:prstGeom>
          <a:solidFill>
            <a:srgbClr val="121520"/>
          </a:solidFill>
          <a:ln w="15240">
            <a:solidFill>
              <a:srgbClr val="34C7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56032" bIns="228600"/>
          <a:lstStyle/>
          <a:p>
            <a:pPr algn="ctr">
              <a:defRPr sz="900" b="1">
                <a:solidFill>
                  <a:srgbClr val="34C759"/>
                </a:solidFill>
              </a:defRPr>
            </a:pPr>
            <a:r>
              <a:t>AIR-GAPPED AUTONOMY</a:t>
            </a:r>
          </a:p>
          <a:p>
            <a:pPr>
              <a:spcAft>
                <a:spcPts val="800"/>
              </a:spcAft>
              <a:defRPr sz="1600" b="1">
                <a:solidFill>
                  <a:srgbClr val="FFFFFF"/>
                </a:solidFill>
              </a:defRPr>
            </a:pPr>
            <a:r>
              <a:t>✈️  100% Offline-Verifiable</a:t>
            </a:r>
          </a:p>
          <a:p>
            <a:pPr>
              <a:spcAft>
                <a:spcPts val="400"/>
              </a:spcAft>
              <a:defRPr sz="1100">
                <a:solidFill>
                  <a:srgbClr val="AAB2C8"/>
                </a:solidFill>
              </a:defRPr>
            </a:pPr>
            <a:r>
              <a:t>•  Works reliably in Airplane Mode with Wi-Fi and cellular disabled live.</a:t>
            </a:r>
          </a:p>
          <a:p>
            <a:pPr>
              <a:spcAft>
                <a:spcPts val="400"/>
              </a:spcAft>
              <a:defRPr sz="1100">
                <a:solidFill>
                  <a:srgbClr val="AAB2C8"/>
                </a:solidFill>
              </a:defRPr>
            </a:pPr>
            <a:r>
              <a:t>•  Complete sensory pipeline runs air-gapped with zero network calls.</a:t>
            </a:r>
          </a:p>
          <a:p>
            <a:pPr>
              <a:spcAft>
                <a:spcPts val="400"/>
              </a:spcAft>
              <a:defRPr sz="1100">
                <a:solidFill>
                  <a:srgbClr val="AAB2C8"/>
                </a:solidFill>
              </a:defRPr>
            </a:pPr>
            <a:r>
              <a:t>•  Proves zero cloud reliance live on stage in front of judges.</a:t>
            </a:r>
          </a:p>
          <a:p>
            <a:pPr>
              <a:spcAft>
                <a:spcPts val="400"/>
              </a:spcAft>
              <a:defRPr sz="1100">
                <a:solidFill>
                  <a:srgbClr val="AAB2C8"/>
                </a:solidFill>
              </a:defRPr>
            </a:pPr>
            <a:r>
              <a:t>•  Eliminates transit dead-zones in metro stations and elevators.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4251960"/>
            <a:ext cx="5166360" cy="2148840"/>
          </a:xfrm>
          <a:prstGeom prst="roundRect">
            <a:avLst/>
          </a:prstGeom>
          <a:solidFill>
            <a:srgbClr val="121520"/>
          </a:solidFill>
          <a:ln w="15240">
            <a:solidFill>
              <a:srgbClr val="FF6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56032" bIns="228600"/>
          <a:lstStyle/>
          <a:p>
            <a:pPr algn="ctr">
              <a:defRPr sz="900" b="1">
                <a:solidFill>
                  <a:srgbClr val="FF6F00"/>
                </a:solidFill>
              </a:defRPr>
            </a:pPr>
            <a:r>
              <a:t>ZERO CLOUD LEAKAGE</a:t>
            </a:r>
          </a:p>
          <a:p>
            <a:pPr>
              <a:spcAft>
                <a:spcPts val="800"/>
              </a:spcAft>
              <a:defRPr sz="1600" b="1">
                <a:solidFill>
                  <a:srgbClr val="FFFFFF"/>
                </a:solidFill>
              </a:defRPr>
            </a:pPr>
            <a:r>
              <a:t>🔐  Local-Only Biometric Storage</a:t>
            </a:r>
          </a:p>
          <a:p>
            <a:pPr>
              <a:spcAft>
                <a:spcPts val="400"/>
              </a:spcAft>
              <a:defRPr sz="1100">
                <a:solidFill>
                  <a:srgbClr val="AAB2C8"/>
                </a:solidFill>
              </a:defRPr>
            </a:pPr>
            <a:r>
              <a:t>•  128-dimensional facial embeddings stored strictly on-device.</a:t>
            </a:r>
          </a:p>
          <a:p>
            <a:pPr>
              <a:spcAft>
                <a:spcPts val="400"/>
              </a:spcAft>
              <a:defRPr sz="1100">
                <a:solidFill>
                  <a:srgbClr val="AAB2C8"/>
                </a:solidFill>
              </a:defRPr>
            </a:pPr>
            <a:r>
              <a:t>•  Never uploaded to servers, never synced, never trained on external models.</a:t>
            </a:r>
          </a:p>
          <a:p>
            <a:pPr>
              <a:spcAft>
                <a:spcPts val="400"/>
              </a:spcAft>
              <a:defRPr sz="1100">
                <a:solidFill>
                  <a:srgbClr val="AAB2C8"/>
                </a:solidFill>
              </a:defRPr>
            </a:pPr>
            <a:r>
              <a:t>•  Encrypted at rest using WebCrypto AES-GCM 256-bit encryption.</a:t>
            </a:r>
          </a:p>
          <a:p>
            <a:pPr>
              <a:spcAft>
                <a:spcPts val="400"/>
              </a:spcAft>
              <a:defRPr sz="1100">
                <a:solidFill>
                  <a:srgbClr val="AAB2C8"/>
                </a:solidFill>
              </a:defRPr>
            </a:pPr>
            <a:r>
              <a:t>•  Guarantees total privacy and zero surveillance risk for user and family.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1148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D700"/>
                </a:solidFill>
              </a:defRPr>
            </a:pPr>
            <a:r>
              <a:t>SIMPLE, VISUAL, ZERO CLOUD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Technical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515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AAB2C8"/>
                </a:solidFill>
              </a:defRPr>
            </a:pPr>
            <a:r>
              <a:t>A clean pipeline designed for local silicon execution with zero network dependency: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920240"/>
            <a:ext cx="3364992" cy="4297680"/>
          </a:xfrm>
          <a:prstGeom prst="roundRect">
            <a:avLst/>
          </a:prstGeom>
          <a:solidFill>
            <a:srgbClr val="121520"/>
          </a:solidFill>
          <a:ln w="1524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56032" bIns="228600"/>
          <a:lstStyle/>
          <a:p>
            <a:pPr algn="ctr">
              <a:defRPr sz="900" b="1">
                <a:solidFill>
                  <a:srgbClr val="FFD700"/>
                </a:solidFill>
              </a:defRPr>
            </a:pPr>
            <a:r>
              <a:t>PERCEPTION LAYER</a:t>
            </a:r>
          </a:p>
          <a:p>
            <a:pPr>
              <a:spcAft>
                <a:spcPts val="800"/>
              </a:spcAft>
              <a:defRPr sz="1600" b="1">
                <a:solidFill>
                  <a:srgbClr val="FFFFFF"/>
                </a:solidFill>
              </a:defRPr>
            </a:pPr>
            <a:r>
              <a:t>📷  1. Local Ingestion &amp; Models</a:t>
            </a:r>
          </a:p>
          <a:p>
            <a:pPr>
              <a:spcAft>
                <a:spcPts val="400"/>
              </a:spcAft>
              <a:defRPr sz="1100">
                <a:solidFill>
                  <a:srgbClr val="AAB2C8"/>
                </a:solidFill>
              </a:defRPr>
            </a:pPr>
            <a:r>
              <a:t>•  Camera Stream: Low-latency frame capture with adaptive downsampling.</a:t>
            </a:r>
          </a:p>
          <a:p>
            <a:pPr>
              <a:spcAft>
                <a:spcPts val="400"/>
              </a:spcAft>
              <a:defRPr sz="1100">
                <a:solidFill>
                  <a:srgbClr val="AAB2C8"/>
                </a:solidFill>
              </a:defRPr>
            </a:pPr>
            <a:r>
              <a:t>•  On-Device Quantized Vision Model: Fast obstacle &amp; spatial segmentation.</a:t>
            </a:r>
          </a:p>
          <a:p>
            <a:pPr>
              <a:spcAft>
                <a:spcPts val="400"/>
              </a:spcAft>
              <a:defRPr sz="1100">
                <a:solidFill>
                  <a:srgbClr val="AAB2C8"/>
                </a:solidFill>
              </a:defRPr>
            </a:pPr>
            <a:r>
              <a:t>•  On-Device OCR: High-contrast text extraction from blister packs.</a:t>
            </a:r>
          </a:p>
          <a:p>
            <a:pPr>
              <a:spcAft>
                <a:spcPts val="400"/>
              </a:spcAft>
              <a:defRPr sz="1100">
                <a:solidFill>
                  <a:srgbClr val="AAB2C8"/>
                </a:solidFill>
              </a:defRPr>
            </a:pPr>
            <a:r>
              <a:t>•  Local Lightweight LLM: Strips packaging clutter into drug name, dosage &amp; expiry.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920240"/>
            <a:ext cx="3364992" cy="4297680"/>
          </a:xfrm>
          <a:prstGeom prst="roundRect">
            <a:avLst/>
          </a:prstGeom>
          <a:solidFill>
            <a:srgbClr val="121520"/>
          </a:solidFill>
          <a:ln w="1524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56032" bIns="228600"/>
          <a:lstStyle/>
          <a:p>
            <a:pPr algn="ctr">
              <a:defRPr sz="900" b="1">
                <a:solidFill>
                  <a:srgbClr val="00E5FF"/>
                </a:solidFill>
              </a:defRPr>
            </a:pPr>
            <a:r>
              <a:t>ADAPTIVE COMPUTE ENGINE</a:t>
            </a:r>
          </a:p>
          <a:p>
            <a:pPr>
              <a:spcAft>
                <a:spcPts val="800"/>
              </a:spcAft>
              <a:defRPr sz="1600" b="1">
                <a:solidFill>
                  <a:srgbClr val="FFFFFF"/>
                </a:solidFill>
              </a:defRPr>
            </a:pPr>
            <a:r>
              <a:t>⚡  2. Hardware Adaptation</a:t>
            </a:r>
          </a:p>
          <a:p>
            <a:pPr>
              <a:spcAft>
                <a:spcPts val="400"/>
              </a:spcAft>
              <a:defRPr sz="1100">
                <a:solidFill>
                  <a:srgbClr val="AAB2C8"/>
                </a:solidFill>
              </a:defRPr>
            </a:pPr>
            <a:r>
              <a:t>•  Dynamic Tier Manager: Auto-detects device compute and frame budget.</a:t>
            </a:r>
          </a:p>
          <a:p>
            <a:pPr>
              <a:spcAft>
                <a:spcPts val="400"/>
              </a:spcAft>
              <a:defRPr sz="1100">
                <a:solidFill>
                  <a:srgbClr val="AAB2C8"/>
                </a:solidFill>
              </a:defRPr>
            </a:pPr>
            <a:r>
              <a:t>•  Standard Mode: Rich spatial comprehension for flagship silicon.</a:t>
            </a:r>
          </a:p>
          <a:p>
            <a:pPr>
              <a:spcAft>
                <a:spcPts val="400"/>
              </a:spcAft>
              <a:defRPr sz="1100">
                <a:solidFill>
                  <a:srgbClr val="AAB2C8"/>
                </a:solidFill>
              </a:defRPr>
            </a:pPr>
            <a:r>
              <a:t>•  Lite Mode: Rapid directional evasion hints for budget chipsets.</a:t>
            </a:r>
          </a:p>
          <a:p>
            <a:pPr>
              <a:spcAft>
                <a:spcPts val="400"/>
              </a:spcAft>
              <a:defRPr sz="1100">
                <a:solidFill>
                  <a:srgbClr val="AAB2C8"/>
                </a:solidFill>
              </a:defRPr>
            </a:pPr>
            <a:r>
              <a:t>•  Zero Network Call Constraint: Core loop strictly isolated from internet.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79" y="1920240"/>
            <a:ext cx="3364992" cy="4297680"/>
          </a:xfrm>
          <a:prstGeom prst="roundRect">
            <a:avLst/>
          </a:prstGeom>
          <a:solidFill>
            <a:srgbClr val="121520"/>
          </a:solidFill>
          <a:ln w="15240">
            <a:solidFill>
              <a:srgbClr val="34C7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56032" bIns="228600"/>
          <a:lstStyle/>
          <a:p>
            <a:pPr algn="ctr">
              <a:defRPr sz="900" b="1">
                <a:solidFill>
                  <a:srgbClr val="34C759"/>
                </a:solidFill>
              </a:defRPr>
            </a:pPr>
            <a:r>
              <a:t>TACTILE &amp; AUDIO FEEDBACK</a:t>
            </a:r>
          </a:p>
          <a:p>
            <a:pPr>
              <a:spcAft>
                <a:spcPts val="800"/>
              </a:spcAft>
              <a:defRPr sz="1600" b="1">
                <a:solidFill>
                  <a:srgbClr val="FFFFFF"/>
                </a:solidFill>
              </a:defRPr>
            </a:pPr>
            <a:r>
              <a:t>🔊  3. Multi-Sensory UX</a:t>
            </a:r>
          </a:p>
          <a:p>
            <a:pPr>
              <a:spcAft>
                <a:spcPts val="400"/>
              </a:spcAft>
              <a:defRPr sz="1100">
                <a:solidFill>
                  <a:srgbClr val="AAB2C8"/>
                </a:solidFill>
              </a:defRPr>
            </a:pPr>
            <a:r>
              <a:t>•  Offline Text-to-Speech: Natural voice synthesis across 7 Indian languages.</a:t>
            </a:r>
          </a:p>
          <a:p>
            <a:pPr>
              <a:spcAft>
                <a:spcPts val="400"/>
              </a:spcAft>
              <a:defRPr sz="1100">
                <a:solidFill>
                  <a:srgbClr val="AAB2C8"/>
                </a:solidFill>
              </a:defRPr>
            </a:pPr>
            <a:r>
              <a:t>•  Directional Linear Haptics: Escalating vibration pulses for near hazards.</a:t>
            </a:r>
          </a:p>
          <a:p>
            <a:pPr>
              <a:spcAft>
                <a:spcPts val="400"/>
              </a:spcAft>
              <a:defRPr sz="1100">
                <a:solidFill>
                  <a:srgbClr val="AAB2C8"/>
                </a:solidFill>
              </a:defRPr>
            </a:pPr>
            <a:r>
              <a:t>•  Eyes-Free Gestures: Screen double-tap &amp; back-tap controls.</a:t>
            </a:r>
          </a:p>
          <a:p>
            <a:pPr>
              <a:spcAft>
                <a:spcPts val="400"/>
              </a:spcAft>
              <a:defRPr sz="1100">
                <a:solidFill>
                  <a:srgbClr val="AAB2C8"/>
                </a:solidFill>
              </a:defRPr>
            </a:pPr>
            <a:r>
              <a:t>•  Discreet Whispers: Proximity alerts for registered trusted contacts.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1148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D700"/>
                </a:solidFill>
              </a:defRPr>
            </a:pPr>
            <a:r>
              <a:t>STAGE DEMO 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Live Demo Flow (3-Minute Winning Playbook)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515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AAB2C8"/>
                </a:solidFill>
              </a:defRPr>
            </a:pPr>
            <a:r>
              <a:t>Chronological live demonstration sequence matching the onstage pitch: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920240"/>
            <a:ext cx="10515600" cy="749808"/>
          </a:xfrm>
          <a:prstGeom prst="roundRect">
            <a:avLst/>
          </a:prstGeom>
          <a:solidFill>
            <a:srgbClr val="121520"/>
          </a:solidFill>
          <a:ln>
            <a:solidFill>
              <a:srgbClr val="2A30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109728"/>
          <a:lstStyle/>
          <a:p>
            <a:pPr algn="ctr">
              <a:defRPr sz="1300" b="1">
                <a:solidFill>
                  <a:srgbClr val="FFD700"/>
                </a:solidFill>
              </a:defRPr>
            </a:pPr>
            <a:r>
              <a:t>1. Eyes-Free Navigation Demo  —  Key [1] / Double-Tap</a:t>
            </a:r>
          </a:p>
          <a:p>
            <a:pPr>
              <a:defRPr sz="1000">
                <a:solidFill>
                  <a:srgbClr val="AAB2C8"/>
                </a:solidFill>
              </a:defRPr>
            </a:pPr>
            <a:r>
              <a:t>Blindfolded walk-through using clock-face spatial guidance + directional haptic pulses.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798064"/>
            <a:ext cx="10515600" cy="749808"/>
          </a:xfrm>
          <a:prstGeom prst="roundRect">
            <a:avLst/>
          </a:prstGeom>
          <a:solidFill>
            <a:srgbClr val="121520"/>
          </a:solidFill>
          <a:ln>
            <a:solidFill>
              <a:srgbClr val="2A30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109728"/>
          <a:lstStyle/>
          <a:p>
            <a:pPr algn="ctr">
              <a:defRPr sz="1300" b="1">
                <a:solidFill>
                  <a:srgbClr val="F87171"/>
                </a:solidFill>
              </a:defRPr>
            </a:pPr>
            <a:r>
              <a:t>2. The Airplane Mode Proof  —  Key [A] (Air-Gapped)</a:t>
            </a:r>
          </a:p>
          <a:p>
            <a:pPr>
              <a:defRPr sz="1000">
                <a:solidFill>
                  <a:srgbClr val="AAB2C8"/>
                </a:solidFill>
              </a:defRPr>
            </a:pPr>
            <a:r>
              <a:t>Wi-Fi and cellular switched off live on stage; HUD shows 'Airplane: ON (Air-Gapped)'.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675887"/>
            <a:ext cx="10515600" cy="749808"/>
          </a:xfrm>
          <a:prstGeom prst="roundRect">
            <a:avLst/>
          </a:prstGeom>
          <a:solidFill>
            <a:srgbClr val="121520"/>
          </a:solidFill>
          <a:ln>
            <a:solidFill>
              <a:srgbClr val="2A30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109728"/>
          <a:lstStyle/>
          <a:p>
            <a:pPr algn="ctr">
              <a:defRPr sz="1300" b="1">
                <a:solidFill>
                  <a:srgbClr val="34C759"/>
                </a:solidFill>
              </a:defRPr>
            </a:pPr>
            <a:r>
              <a:t>3. Medicine Label Smart-Scan  —  Key [2] / Swipe Up</a:t>
            </a:r>
          </a:p>
          <a:p>
            <a:pPr>
              <a:defRPr sz="1000">
                <a:solidFill>
                  <a:srgbClr val="AAB2C8"/>
                </a:solidFill>
              </a:defRPr>
            </a:pPr>
            <a:r>
              <a:t>Scans noisy Dolo 650 strip in Airplane Mode; reads brand, expiry date, and dosage aloud.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553712"/>
            <a:ext cx="10515600" cy="749808"/>
          </a:xfrm>
          <a:prstGeom prst="roundRect">
            <a:avLst/>
          </a:prstGeom>
          <a:solidFill>
            <a:srgbClr val="121520"/>
          </a:solidFill>
          <a:ln>
            <a:solidFill>
              <a:srgbClr val="2A30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109728"/>
          <a:lstStyle/>
          <a:p>
            <a:pPr algn="ctr">
              <a:defRPr sz="1300" b="1">
                <a:solidFill>
                  <a:srgbClr val="00E5FF"/>
                </a:solidFill>
              </a:defRPr>
            </a:pPr>
            <a:r>
              <a:t>4. 'Who's Near Me' Face Recognition  —  Key [4] / Swipe Right</a:t>
            </a:r>
          </a:p>
          <a:p>
            <a:pPr>
              <a:defRPr sz="1000">
                <a:solidFill>
                  <a:srgbClr val="AAB2C8"/>
                </a:solidFill>
              </a:defRPr>
            </a:pPr>
            <a:r>
              <a:t>Teammate steps into frame; phone triggers double-heartbeat vibration and whispers name.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431536"/>
            <a:ext cx="10515600" cy="749808"/>
          </a:xfrm>
          <a:prstGeom prst="roundRect">
            <a:avLst/>
          </a:prstGeom>
          <a:solidFill>
            <a:srgbClr val="121520"/>
          </a:solidFill>
          <a:ln>
            <a:solidFill>
              <a:srgbClr val="2A30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109728"/>
          <a:lstStyle/>
          <a:p>
            <a:pPr algn="ctr">
              <a:defRPr sz="1300" b="1">
                <a:solidFill>
                  <a:srgbClr val="FF6F00"/>
                </a:solidFill>
              </a:defRPr>
            </a:pPr>
            <a:r>
              <a:t>5. Live Latency Benchmark  —  Key [3] / Key [B]</a:t>
            </a:r>
          </a:p>
          <a:p>
            <a:pPr>
              <a:defRPr sz="1000">
                <a:solidFill>
                  <a:srgbClr val="AAB2C8"/>
                </a:solidFill>
              </a:defRPr>
            </a:pPr>
            <a:r>
              <a:t>Real cloud API call vs. local NPU stopwatch; proves local execution is an order of magnitude faster.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1148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D700"/>
                </a:solidFill>
              </a:defRPr>
            </a:pPr>
            <a:r>
              <a:t>REAL-WORLD PURPOSE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Impact: Why Drishti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515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AAB2C8"/>
                </a:solidFill>
              </a:defRPr>
            </a:pPr>
            <a:r>
              <a:t>Designed for genuine independence and economic accessibility across India: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920240"/>
            <a:ext cx="3364992" cy="4297680"/>
          </a:xfrm>
          <a:prstGeom prst="roundRect">
            <a:avLst/>
          </a:prstGeom>
          <a:solidFill>
            <a:srgbClr val="121520"/>
          </a:solidFill>
          <a:ln w="1524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56032" bIns="228600"/>
          <a:lstStyle/>
          <a:p>
            <a:pPr algn="ctr">
              <a:defRPr sz="900" b="1">
                <a:solidFill>
                  <a:srgbClr val="FFD700"/>
                </a:solidFill>
              </a:defRPr>
            </a:pPr>
            <a:r>
              <a:t>TRUE AUTONOMY</a:t>
            </a:r>
          </a:p>
          <a:p>
            <a:pPr>
              <a:spcAft>
                <a:spcPts val="800"/>
              </a:spcAft>
              <a:defRPr sz="1600" b="1">
                <a:solidFill>
                  <a:srgbClr val="FFFFFF"/>
                </a:solidFill>
              </a:defRPr>
            </a:pPr>
            <a:r>
              <a:t>🌟  Real Everyday Independence</a:t>
            </a:r>
          </a:p>
          <a:p>
            <a:pPr>
              <a:spcAft>
                <a:spcPts val="400"/>
              </a:spcAft>
              <a:defRPr sz="1100">
                <a:solidFill>
                  <a:srgbClr val="AAB2C8"/>
                </a:solidFill>
              </a:defRPr>
            </a:pPr>
            <a:r>
              <a:t>•  Empowers users in daily essential tasks: walking safely, reading medicines, and recognizing friends.</a:t>
            </a:r>
          </a:p>
          <a:p>
            <a:pPr>
              <a:spcAft>
                <a:spcPts val="400"/>
              </a:spcAft>
              <a:defRPr sz="1100">
                <a:solidFill>
                  <a:srgbClr val="AAB2C8"/>
                </a:solidFill>
              </a:defRPr>
            </a:pPr>
            <a:r>
              <a:t>•  Removes reliance on sighted chaperones or remote commercial call centers.</a:t>
            </a:r>
          </a:p>
          <a:p>
            <a:pPr>
              <a:spcAft>
                <a:spcPts val="400"/>
              </a:spcAft>
              <a:defRPr sz="1100">
                <a:solidFill>
                  <a:srgbClr val="AAB2C8"/>
                </a:solidFill>
              </a:defRPr>
            </a:pPr>
            <a:r>
              <a:t>•  Provides constant spatial awareness with zero cognitive overload.</a:t>
            </a:r>
          </a:p>
          <a:p>
            <a:pPr>
              <a:spcAft>
                <a:spcPts val="400"/>
              </a:spcAft>
              <a:defRPr sz="1100">
                <a:solidFill>
                  <a:srgbClr val="AAB2C8"/>
                </a:solidFill>
              </a:defRPr>
            </a:pPr>
            <a:r>
              <a:t>•  Dignity through autonomous, private assistive technology.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920240"/>
            <a:ext cx="3364992" cy="4297680"/>
          </a:xfrm>
          <a:prstGeom prst="roundRect">
            <a:avLst/>
          </a:prstGeom>
          <a:solidFill>
            <a:srgbClr val="121520"/>
          </a:solidFill>
          <a:ln w="15240">
            <a:solidFill>
              <a:srgbClr val="34C7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56032" bIns="228600"/>
          <a:lstStyle/>
          <a:p>
            <a:pPr algn="ctr">
              <a:defRPr sz="900" b="1">
                <a:solidFill>
                  <a:srgbClr val="34C759"/>
                </a:solidFill>
              </a:defRPr>
            </a:pPr>
            <a:r>
              <a:t>HARDWARE EQUITY</a:t>
            </a:r>
          </a:p>
          <a:p>
            <a:pPr>
              <a:spcAft>
                <a:spcPts val="800"/>
              </a:spcAft>
              <a:defRPr sz="1600" b="1">
                <a:solidFill>
                  <a:srgbClr val="FFFFFF"/>
                </a:solidFill>
              </a:defRPr>
            </a:pPr>
            <a:r>
              <a:t>🇮🇳  Accessible to All Incomes</a:t>
            </a:r>
          </a:p>
          <a:p>
            <a:pPr>
              <a:spcAft>
                <a:spcPts val="400"/>
              </a:spcAft>
              <a:defRPr sz="1100">
                <a:solidFill>
                  <a:srgbClr val="AAB2C8"/>
                </a:solidFill>
              </a:defRPr>
            </a:pPr>
            <a:r>
              <a:t>•  Works on affordable budget/mid-range phones (MediaTek Dimensity), not just luxury flagships.</a:t>
            </a:r>
          </a:p>
          <a:p>
            <a:pPr>
              <a:spcAft>
                <a:spcPts val="400"/>
              </a:spcAft>
              <a:defRPr sz="1100">
                <a:solidFill>
                  <a:srgbClr val="AAB2C8"/>
                </a:solidFill>
              </a:defRPr>
            </a:pPr>
            <a:r>
              <a:t>•  Brings high-performance edge AI to users who cannot afford ₹80,000 devices.</a:t>
            </a:r>
          </a:p>
          <a:p>
            <a:pPr>
              <a:spcAft>
                <a:spcPts val="400"/>
              </a:spcAft>
              <a:defRPr sz="1100">
                <a:solidFill>
                  <a:srgbClr val="AAB2C8"/>
                </a:solidFill>
              </a:defRPr>
            </a:pPr>
            <a:r>
              <a:t>•  Multi-lingual: Supports 7 major Indian languages (Telugu, Hindi, Tamil, etc.).</a:t>
            </a:r>
          </a:p>
          <a:p>
            <a:pPr>
              <a:spcAft>
                <a:spcPts val="400"/>
              </a:spcAft>
              <a:defRPr sz="1100">
                <a:solidFill>
                  <a:srgbClr val="AAB2C8"/>
                </a:solidFill>
              </a:defRPr>
            </a:pPr>
            <a:r>
              <a:t>•  Inclusive by design for Indian socioeconomic realities.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79" y="1920240"/>
            <a:ext cx="3364992" cy="4297680"/>
          </a:xfrm>
          <a:prstGeom prst="roundRect">
            <a:avLst/>
          </a:prstGeom>
          <a:solidFill>
            <a:srgbClr val="121520"/>
          </a:solidFill>
          <a:ln w="1524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56032" bIns="228600"/>
          <a:lstStyle/>
          <a:p>
            <a:pPr algn="ctr">
              <a:defRPr sz="900" b="1">
                <a:solidFill>
                  <a:srgbClr val="00E5FF"/>
                </a:solidFill>
              </a:defRPr>
            </a:pPr>
            <a:r>
              <a:t>PERMANENT FREEDOM</a:t>
            </a:r>
          </a:p>
          <a:p>
            <a:pPr>
              <a:spcAft>
                <a:spcPts val="800"/>
              </a:spcAft>
              <a:defRPr sz="1600" b="1">
                <a:solidFill>
                  <a:srgbClr val="FFFFFF"/>
                </a:solidFill>
              </a:defRPr>
            </a:pPr>
            <a:r>
              <a:t>🛡️  Zero Subscriptions &amp; Zero Data Harvesting</a:t>
            </a:r>
          </a:p>
          <a:p>
            <a:pPr>
              <a:spcAft>
                <a:spcPts val="400"/>
              </a:spcAft>
              <a:defRPr sz="1100">
                <a:solidFill>
                  <a:srgbClr val="AAB2C8"/>
                </a:solidFill>
              </a:defRPr>
            </a:pPr>
            <a:r>
              <a:t>•  No monthly API subscription fees or paywalled accessibility features.</a:t>
            </a:r>
          </a:p>
          <a:p>
            <a:pPr>
              <a:spcAft>
                <a:spcPts val="400"/>
              </a:spcAft>
              <a:defRPr sz="1100">
                <a:solidFill>
                  <a:srgbClr val="AAB2C8"/>
                </a:solidFill>
              </a:defRPr>
            </a:pPr>
            <a:r>
              <a:t>•  No corporate surveillance or harvesting of private household feeds.</a:t>
            </a:r>
          </a:p>
          <a:p>
            <a:pPr>
              <a:spcAft>
                <a:spcPts val="400"/>
              </a:spcAft>
              <a:defRPr sz="1100">
                <a:solidFill>
                  <a:srgbClr val="AAB2C8"/>
                </a:solidFill>
              </a:defRPr>
            </a:pPr>
            <a:r>
              <a:t>•  No internet dependency — works in elevators, rural farms, and basements.</a:t>
            </a:r>
          </a:p>
          <a:p>
            <a:pPr>
              <a:spcAft>
                <a:spcPts val="400"/>
              </a:spcAft>
              <a:defRPr sz="1100">
                <a:solidFill>
                  <a:srgbClr val="AAB2C8"/>
                </a:solidFill>
              </a:defRPr>
            </a:pPr>
            <a:r>
              <a:t>•  A one-time, private, always-available assistive tool.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097280"/>
            <a:ext cx="5486400" cy="438912"/>
          </a:xfrm>
          <a:prstGeom prst="roundRect">
            <a:avLst/>
          </a:prstGeom>
          <a:solidFill>
            <a:srgbClr val="19160A"/>
          </a:solidFill>
          <a:ln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D700"/>
                </a:solidFill>
              </a:defRPr>
            </a:pPr>
            <a:r>
              <a:t>SMART LIVING  •  iQOO HACKATHON 2026 (HYDERABAD)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515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400" b="1">
                <a:solidFill>
                  <a:srgbClr val="FFFFFF"/>
                </a:solidFill>
              </a:defRPr>
            </a:pPr>
            <a:r>
              <a:t>Drishti</a:t>
            </a:r>
          </a:p>
          <a:p>
            <a:pPr>
              <a:spcBef>
                <a:spcPts val="400"/>
              </a:spcBef>
              <a:defRPr sz="1800">
                <a:solidFill>
                  <a:srgbClr val="FFD700"/>
                </a:solidFill>
              </a:defRPr>
            </a:pPr>
            <a:r>
              <a:t>“An instant, private, offline sensory companion for the visually impaired”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383280"/>
            <a:ext cx="10515600" cy="1188720"/>
          </a:xfrm>
          <a:prstGeom prst="roundRect">
            <a:avLst/>
          </a:prstGeom>
          <a:solidFill>
            <a:srgbClr val="121520"/>
          </a:solidFill>
          <a:ln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320040"/>
          <a:lstStyle/>
          <a:p>
            <a:pPr algn="ctr">
              <a:defRPr sz="2200" b="1">
                <a:solidFill>
                  <a:srgbClr val="FFF0B4"/>
                </a:solidFill>
              </a:defRPr>
            </a:pPr>
            <a:r>
              <a:t>“Built entirely on-device. Built entirely for independence.”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4800600"/>
            <a:ext cx="10515600" cy="1371600"/>
          </a:xfrm>
          <a:prstGeom prst="roundRect">
            <a:avLst/>
          </a:prstGeom>
          <a:solidFill>
            <a:srgbClr val="121520"/>
          </a:solidFill>
          <a:ln>
            <a:solidFill>
              <a:srgbClr val="2A30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201168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TEAM: [Team Name / Team Members]</a:t>
            </a:r>
          </a:p>
          <a:p>
            <a:pPr>
              <a:spcBef>
                <a:spcPts val="400"/>
              </a:spcBef>
              <a:defRPr sz="1100">
                <a:solidFill>
                  <a:srgbClr val="00E5FF"/>
                </a:solidFill>
              </a:defRPr>
            </a:pPr>
            <a:r>
              <a:t>🌐 Live App: https://drishti-seven-mu.vercel.app  •  Presentation: https://drishti-seven-mu.vercel.app/pitch</a:t>
            </a:r>
          </a:p>
          <a:p>
            <a:pPr>
              <a:defRPr sz="1100">
                <a:solidFill>
                  <a:srgbClr val="AAB2C8"/>
                </a:solidFill>
              </a:defRPr>
            </a:pPr>
            <a:r>
              <a:t>📦 GitHub: https://github.com/M-L-Arjun/drishti-ai  •  111 Unit Tests Passing (100% Offline)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