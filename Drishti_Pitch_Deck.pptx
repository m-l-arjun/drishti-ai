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5303520" cy="384048"/>
          </a:xfrm>
          <a:prstGeom prst="roundRect">
            <a:avLst/>
          </a:prstGeom>
          <a:solidFill>
            <a:srgbClr val="19160A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SMART LIVING / ACCESSIBILITY TECH  •  iQOO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943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Drishti</a:t>
            </a:r>
          </a:p>
          <a:p>
            <a:pPr>
              <a:spcBef>
                <a:spcPts val="400"/>
              </a:spcBef>
              <a:defRPr sz="1700">
                <a:solidFill>
                  <a:srgbClr val="FFD700"/>
                </a:solidFill>
              </a:defRPr>
            </a:pPr>
            <a:r>
              <a:t>दृष्टि  •  On-Device Sensory Companion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6035040" cy="1280160"/>
          </a:xfrm>
          <a:prstGeom prst="roundRect">
            <a:avLst/>
          </a:prstGeom>
          <a:solidFill>
            <a:srgbClr val="12152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/>
          <a:lstStyle/>
          <a:p>
            <a:pPr algn="ctr">
              <a:defRPr sz="1700" b="1">
                <a:solidFill>
                  <a:srgbClr val="FFF0B4"/>
                </a:solidFill>
              </a:defRPr>
            </a:pPr>
            <a:r>
              <a:t>“An instant, private, offline sensory companion for the visually impaired”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34840"/>
            <a:ext cx="2926080" cy="8686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200" b="1">
                <a:solidFill>
                  <a:srgbClr val="FFD700"/>
                </a:solidFill>
              </a:defRPr>
            </a:pPr>
            <a:r>
              <a:t>⚡ Instant Reaction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Zero cloud latency hazard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4434840"/>
            <a:ext cx="2926080" cy="8686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200" b="1">
                <a:solidFill>
                  <a:srgbClr val="FFD700"/>
                </a:solidFill>
              </a:defRPr>
            </a:pPr>
            <a:r>
              <a:t>🔒 100% Private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Zero video leaves 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40679"/>
            <a:ext cx="2926080" cy="8686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200" b="1">
                <a:solidFill>
                  <a:srgbClr val="FFD700"/>
                </a:solidFill>
              </a:defRPr>
            </a:pPr>
            <a:r>
              <a:t>✈️ Fully Offline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Verified in Airplane Mode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5440679"/>
            <a:ext cx="2926080" cy="8686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200" b="1">
                <a:solidFill>
                  <a:srgbClr val="FFD700"/>
                </a:solidFill>
              </a:defRPr>
            </a:pPr>
            <a:r>
              <a:t>🏠 Smart Living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Real daily independence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777240"/>
            <a:ext cx="4389120" cy="5440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qoo-spatial-hallw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850392"/>
            <a:ext cx="4242816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8040" y="5715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iQOO On-Device Spatial Guidance HUD (Hallway Navigation)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THE REAL-WORLD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Why Existing Assistive Tech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B2C8"/>
                </a:solidFill>
              </a:defRPr>
            </a:pPr>
            <a:r>
              <a:t>Over 40 million people in India live with severe visual impairment. Cloud-dependent aids fail them in 3 critical ways: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931920" cy="45262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sually-impaired-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56232"/>
            <a:ext cx="3785616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806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40M+ visually impaired in India face dangerous cloud latency &amp; privacy loss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783080"/>
            <a:ext cx="6675120" cy="137160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87171"/>
                </a:solidFill>
              </a:defRPr>
            </a:pPr>
            <a:r>
              <a:t>HAZARD 1</a:t>
            </a:r>
          </a:p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⚠️  Cloud Latency is Dangerous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Cloud vision APIs take 2 to 5 seconds per request.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A pedestrian moving at 1.2 m/s travels 4 to 6 feet in that delay window.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In obstacle avoidance, that delay causes physical injury and collisions.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337560"/>
            <a:ext cx="6675120" cy="137160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FD700"/>
                </a:solidFill>
              </a:defRPr>
            </a:pPr>
            <a:r>
              <a:t>HAZARD 2</a:t>
            </a:r>
          </a:p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🔒  Severe Privacy Vulnerability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Users must upload live camera feeds of private bedrooms, bathrooms, and IDs.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Transmits personal documents (Aadhaar, prescriptions) to 3rd-party servers.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Sacrifices personal privacy just to achieve basic mobility.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4892040"/>
            <a:ext cx="6675120" cy="137160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00E5FF"/>
                </a:solidFill>
              </a:defRPr>
            </a:pPr>
            <a:r>
              <a:t>HAZARD 3</a:t>
            </a:r>
          </a:p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📡  Connectivity Fragility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Transit corridors (metro stations, elevators, rural zones) lack stable internet.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When the connection drops, cloud-tethered apps instantly disable.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Leaves visually impaired users stranded and functionally blinded.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FULLY ON-DEVICE AI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Solution: What Drishti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B2C8"/>
                </a:solidFill>
              </a:defRPr>
            </a:pPr>
            <a:r>
              <a:t>Runs 100% offline on local phone silicon with zero cloud calls across 4 core accessibility capabilities: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4612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FD700"/>
                </a:solidFill>
              </a:defRPr>
            </a:pPr>
            <a:r>
              <a:t>CAPABILITY 1</a:t>
            </a:r>
          </a:p>
          <a:p>
            <a:pPr>
              <a:spcAft>
                <a:spcPts val="600"/>
              </a:spcAft>
              <a:defRPr sz="1350" b="1">
                <a:solidFill>
                  <a:srgbClr val="FFFFFF"/>
                </a:solidFill>
              </a:defRPr>
            </a:pPr>
            <a:r>
              <a:t>🧭  Spatial &amp; Scene Guidance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Real-time obstacle narration via local quantized VLM.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12 clock-face sectors ('Obstacle at 2 o'clock, 3 ft').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Directional haptic motor pulses guide around hazards.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783080"/>
            <a:ext cx="324612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34C759"/>
                </a:solidFill>
              </a:defRPr>
            </a:pPr>
            <a:r>
              <a:t>CAPABILITY 2</a:t>
            </a:r>
          </a:p>
          <a:p>
            <a:pPr>
              <a:spcAft>
                <a:spcPts val="600"/>
              </a:spcAft>
              <a:defRPr sz="1350" b="1">
                <a:solidFill>
                  <a:srgbClr val="FFFFFF"/>
                </a:solidFill>
              </a:defRPr>
            </a:pPr>
            <a:r>
              <a:t>💊  Smart-Scan for Medicine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On-device OCR + local LLM filters noisy packaging.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Isolates Drug Name, Dosage, and Expiry Date.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Vocalizes vernacular directions ('Take after food').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324612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00E5FF"/>
                </a:solidFill>
              </a:defRPr>
            </a:pPr>
            <a:r>
              <a:t>CAPABILITY 3</a:t>
            </a:r>
          </a:p>
          <a:p>
            <a:pPr>
              <a:spcAft>
                <a:spcPts val="600"/>
              </a:spcAft>
              <a:defRPr sz="1350" b="1">
                <a:solidFill>
                  <a:srgbClr val="FFFFFF"/>
                </a:solidFill>
              </a:defRPr>
            </a:pPr>
            <a:r>
              <a:t>👤  'Who's Near Me' Face Scan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On-device contact recognition for trusted individuals.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128-d local embeddings stored only on-device.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Whispers proximity alert with heartbeat haptic pulse.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4114800"/>
            <a:ext cx="324612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E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FEB78"/>
                </a:solidFill>
              </a:defRPr>
            </a:pPr>
            <a:r>
              <a:t>CAPABILITY 4</a:t>
            </a:r>
          </a:p>
          <a:p>
            <a:pPr>
              <a:spcAft>
                <a:spcPts val="600"/>
              </a:spcAft>
              <a:defRPr sz="1350" b="1">
                <a:solidFill>
                  <a:srgbClr val="FFFFFF"/>
                </a:solidFill>
              </a:defRPr>
            </a:pPr>
            <a:r>
              <a:t>📳  Pure Tactile &amp; Voice UX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Eyes-free high-contrast OLED interface.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Spatial audio + localized Indian speech engines.</a:t>
            </a:r>
          </a:p>
          <a:p>
            <a:pPr>
              <a:spcAft>
                <a:spcPts val="300"/>
              </a:spcAft>
              <a:defRPr sz="950">
                <a:solidFill>
                  <a:srgbClr val="AAB2C8"/>
                </a:solidFill>
              </a:defRPr>
            </a:pPr>
            <a:r>
              <a:t>•  Proximity vibrations guide hands directly to targets.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783080"/>
            <a:ext cx="3886200" cy="448056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qoo-interface-medic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1856232"/>
            <a:ext cx="3739896" cy="3886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576072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Drishti on iQOO: On-Device Medicine Scanner &amp; Spatial Radar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CORE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Makes Drishti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B2C8"/>
                </a:solidFill>
              </a:defRPr>
            </a:pPr>
            <a:r>
              <a:t>Engineering decisions purpose-built for real Indian living conditions and hardware accessibility: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FD700"/>
                </a:solidFill>
              </a:defRPr>
            </a:pPr>
            <a:r>
              <a:t>STRATEGY 1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⚡  Tiered Model Strategy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Standard Model: Runs on flagship NPU (iQOO devices) for rich contextual description.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Lite Model: Optimized for budget &amp; mid-range chips (Dimensity 6300/7300, Snapdragon 6).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Ensures accessibility across all economic demographics, not just flagship buyers.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00E5FF"/>
                </a:solidFill>
              </a:defRPr>
            </a:pPr>
            <a:r>
              <a:t>STRATEGY 2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⏱️  Live Real-World Latency Benchmark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Not simulated or mocked: fires a real HTTP network call against local stopwatch.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Demonstrates local processing is an order of magnitude faster than cloud round-trips.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Includes cached replay fallback if convention Wi-Fi is completely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34C759"/>
                </a:solidFill>
              </a:defRPr>
            </a:pPr>
            <a:r>
              <a:t>STRATEGY 3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✈️  100% Offline-Verifiable (Airplane Mode)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Airplane mode toggle proves zero network calls during live evaluation.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Operates flawlessly in basements, elevators, underground metros, and remote regions.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Zero cloud dependency: guaranteed reliability when it matters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E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FEB78"/>
                </a:solidFill>
              </a:defRPr>
            </a:pPr>
            <a:r>
              <a:t>STRATEGY 4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🔐  Local Encrypted Face Recognition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128-dimensional vector embeddings stored strictly on-device.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Encrypted at rest with WebCrypto AES-GCM 256-bit encryption.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Zero biometric data ever transmitted or uploaded to external servers.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SIMPLE, VISUAL, ZERO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Technical Architecture: Fully On-Device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B2C8"/>
                </a:solidFill>
              </a:defRPr>
            </a:pPr>
            <a:r>
              <a:t>Pure on-device edge pipeline converting raw camera &amp; motion frames into spatial speech and haptics: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265176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FD700"/>
                </a:solidFill>
              </a:defRPr>
            </a:pPr>
            <a:r>
              <a:t>1. SENSORY INPUT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Camera &amp; IMU Sensors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Low-latency 640x480 frame capture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Accelerometer tilt &amp; back-tap detection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Zero frame buffering or disk writing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429000" cy="265176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00E5FF"/>
                </a:solidFill>
              </a:defRPr>
            </a:pPr>
            <a:r>
              <a:t>2. ON-DEVICE INFERENCE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Quantized VLM + OCR + LLM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Quantized VLM for spatial scene analysis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On-device OCR for medicine labels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Local LLM for text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429000" cy="265176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34C759"/>
                </a:solidFill>
              </a:defRPr>
            </a:pPr>
            <a:r>
              <a:t>3. MULTI-MODAL OUTPUT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Neural TTS + Linear Haptics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Clock-face spatial audio guidance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Pan-Indian speech (Telugu, Hindi, etc.)</a:t>
            </a:r>
          </a:p>
          <a:p>
            <a:pPr>
              <a:spcAft>
                <a:spcPts val="300"/>
              </a:spcAft>
              <a:defRPr sz="1050">
                <a:solidFill>
                  <a:srgbClr val="AAB2C8"/>
                </a:solidFill>
              </a:defRPr>
            </a:pPr>
            <a:r>
              <a:t>•  Proximity vibration pulse sequences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44200" cy="1600200"/>
          </a:xfrm>
          <a:prstGeom prst="roundRect">
            <a:avLst/>
          </a:prstGeom>
          <a:solidFill>
            <a:srgbClr val="12152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100" b="1">
                <a:solidFill>
                  <a:srgbClr val="FFD700"/>
                </a:solidFill>
              </a:defRPr>
            </a:pPr>
            <a:r>
              <a:t>TIERED MODEL SELECTION  &amp;  ZERO-NETWORK GUARANTEE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Standard Tier (NPU): Leverages mobile NPU hardware (iQOO flagship chips) for multi-object spatial reasoning.</a:t>
            </a:r>
          </a:p>
          <a:p>
            <a:pPr>
              <a:defRPr sz="1100">
                <a:solidFill>
                  <a:srgbClr val="AAB2C8"/>
                </a:solidFill>
              </a:defRPr>
            </a:pPr>
            <a:r>
              <a:t>• Lite Tier (Edge CPU/GPU): Streamlined quantized weights running on affordable mid-range Indian smartphones.</a:t>
            </a:r>
          </a:p>
          <a:p>
            <a:pPr>
              <a:defRPr sz="1100">
                <a:solidFill>
                  <a:srgbClr val="34C759"/>
                </a:solidFill>
              </a:defRPr>
            </a:pPr>
            <a:r>
              <a:t>• 100% Air-Gapped Autonomy: Zero network sockets, zero telemetry tracking, zero server infrastructure costs.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STAGE DEMO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Live Demo Flow: 5-Step Stage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B2C8"/>
                </a:solidFill>
              </a:defRPr>
            </a:pPr>
            <a:r>
              <a:t>Concise, bulleted 3-minute stage pitch sequence demonstrating instant, zero-cloud capability: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6400800" cy="786384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1: Eyes-Free Navigation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Start in Eyes-Free Mode — phone camera scans stage, vocalizing 'Podium 4ft at 12 o'clock' with haptic feedback.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9191"/>
            <a:ext cx="6400800" cy="786384"/>
          </a:xfrm>
          <a:prstGeom prst="roundRect">
            <a:avLst/>
          </a:prstGeom>
          <a:solidFill>
            <a:srgbClr val="12152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200" b="1">
                <a:solidFill>
                  <a:srgbClr val="FFD700"/>
                </a:solidFill>
              </a:defRPr>
            </a:pPr>
            <a:r>
              <a:t>Step 2: The Airplane Mode Proof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Flip phone to Airplane Mode live on stage. Demonstrate continuous real-time guidance with zero Wi-Fi/cellular.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75304"/>
            <a:ext cx="6400800" cy="786384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3: Medicine Label Smart-Scan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Hold up a medicine strip (Dolo 650). Instantly reads brand name, dosage, and expiry date — no packaging clutter.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71416"/>
            <a:ext cx="6400800" cy="786384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4: 'Who's Near Me' Face Recognition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Teammate steps into frame. Phone vibrates distinct double-heartbeat and whispers contact name discreetly.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67528"/>
            <a:ext cx="6400800" cy="786384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5: Live Latency Benchmark</a:t>
            </a:r>
          </a:p>
          <a:p>
            <a:pPr>
              <a:defRPr sz="950">
                <a:solidFill>
                  <a:srgbClr val="AAB2C8"/>
                </a:solidFill>
              </a:defRPr>
            </a:pPr>
            <a:r>
              <a:t>Trigger side-by-side benchmark comparing on-device execution vs. real cloud request to visually prove latency superiority.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783080"/>
            <a:ext cx="4023360" cy="4434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qoo-spatial-hallw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2" y="1856232"/>
            <a:ext cx="3877056" cy="3840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43800" y="5715000"/>
            <a:ext cx="3749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iQOO On-Device Spatial Guidance: 12-Sector Radar &amp; Obstacle HUD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REAL-WORLD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Impact &amp; Why It Matters: Smart Living For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B2C8"/>
                </a:solidFill>
              </a:defRPr>
            </a:pPr>
            <a:r>
              <a:t>Drishti transforms smartphones into private, reliable sensory prosthetics that empower everyday independence: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114800" cy="45262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lderly-medicine-sc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56232"/>
            <a:ext cx="3968496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8064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Everyday Independence: Empowering elderly &amp; visually impaired users at home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783080"/>
            <a:ext cx="6492240" cy="137160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FFD700"/>
                </a:solidFill>
              </a:defRPr>
            </a:pPr>
            <a:r>
              <a:t>PILLAR 1</a:t>
            </a:r>
          </a:p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🌟  Real Everyday Independence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Enables visually impaired individuals to navigate unfamiliar indoor/outdoor spaces safely.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Empowers independent reading of daily medicines, food packaging, and transit signs.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Restores personal dignity without relying on sighted assistants or chaperones.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337560"/>
            <a:ext cx="6492240" cy="137160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34C759"/>
                </a:solidFill>
              </a:defRPr>
            </a:pPr>
            <a:r>
              <a:t>PILLAR 2</a:t>
            </a:r>
          </a:p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📱  Works on Budget Phones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Not locked behind expensive $1,000+ proprietary smart glasses or flagship silicon.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Tiered model strategy ensures accessibility on budget and mid-range devices across India.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Democratizes assistive technology for underserved socio-economic communities.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892040"/>
            <a:ext cx="6492240" cy="137160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defRPr sz="850" b="1">
                <a:solidFill>
                  <a:srgbClr val="00E5FF"/>
                </a:solidFill>
              </a:defRPr>
            </a:pPr>
            <a:r>
              <a:t>PILLAR 3</a:t>
            </a:r>
          </a:p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🛡️  No Subscriptions, Data Harvesting, or Cloud Dependency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Zero recurring monthly API fees or corporate subscription paywalls.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Zero monetization of sensitive user camera feeds or personal biometric data.</a:t>
            </a:r>
          </a:p>
          <a:p>
            <a:pPr>
              <a:spcAft>
                <a:spcPts val="300"/>
              </a:spcAft>
              <a:defRPr sz="1000">
                <a:solidFill>
                  <a:srgbClr val="AAB2C8"/>
                </a:solidFill>
              </a:defRPr>
            </a:pPr>
            <a:r>
              <a:t>•  Complete reliability in offline transit corridors, rural villages, and emergency situations.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5486400" cy="384048"/>
          </a:xfrm>
          <a:prstGeom prst="roundRect">
            <a:avLst/>
          </a:prstGeom>
          <a:solidFill>
            <a:srgbClr val="19160A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SMART LIVING  •  iQOO HACKATHON 2026 (HYDERABAD)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6692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Drishti</a:t>
            </a:r>
          </a:p>
          <a:p>
            <a:pPr>
              <a:defRPr sz="1700">
                <a:solidFill>
                  <a:srgbClr val="FFD700"/>
                </a:solidFill>
              </a:defRPr>
            </a:pPr>
            <a:r>
              <a:t>दृष्टि  •  On-Device AI Sensory Companion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5669280" cy="1280160"/>
          </a:xfrm>
          <a:prstGeom prst="roundRect">
            <a:avLst/>
          </a:prstGeom>
          <a:solidFill>
            <a:srgbClr val="12152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/>
          <a:lstStyle/>
          <a:p>
            <a:pPr algn="ctr">
              <a:defRPr sz="1800" b="1">
                <a:solidFill>
                  <a:srgbClr val="FFF0B4"/>
                </a:solidFill>
              </a:defRPr>
            </a:pPr>
            <a:r>
              <a:t>“Built entirely on-device.</a:t>
            </a:r>
            <a:br/>
            <a:r>
              <a:t>Built entirely for independence.”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17720"/>
            <a:ext cx="5669280" cy="160020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TEAM: [Team Name / Team Members]</a:t>
            </a:r>
          </a:p>
          <a:p>
            <a:pPr>
              <a:spcBef>
                <a:spcPts val="400"/>
              </a:spcBef>
              <a:defRPr sz="1050">
                <a:solidFill>
                  <a:srgbClr val="FFD700"/>
                </a:solidFill>
              </a:defRPr>
            </a:pPr>
            <a:r>
              <a:t>Track: Smart Living / Accessibility Tech (Hyderabad City Battle)</a:t>
            </a:r>
          </a:p>
          <a:p>
            <a:pPr>
              <a:spcBef>
                <a:spcPts val="300"/>
              </a:spcBef>
              <a:defRPr sz="1000">
                <a:solidFill>
                  <a:srgbClr val="AAB2C8"/>
                </a:solidFill>
              </a:defRPr>
            </a:pPr>
            <a:r>
              <a:t>GitHub: https://github.com/M-L-Arjun/drishti-ai</a:t>
            </a:r>
          </a:p>
          <a:p>
            <a:pPr>
              <a:defRPr sz="1000">
                <a:solidFill>
                  <a:srgbClr val="00E5FF"/>
                </a:solidFill>
              </a:defRPr>
            </a:pPr>
            <a:r>
              <a:t>Live App: https://drishti-seven-mu.vercel.app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097280"/>
            <a:ext cx="4663440" cy="51206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sually-impaired-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170432"/>
            <a:ext cx="4517136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7150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Drishti: Empowering visually impaired individuals with on-device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