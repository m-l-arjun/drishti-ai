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5303520" cy="365760"/>
          </a:xfrm>
          <a:prstGeom prst="roundRect">
            <a:avLst/>
          </a:prstGeom>
          <a:solidFill>
            <a:srgbClr val="16140A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D700"/>
                </a:solidFill>
              </a:defRPr>
            </a:pPr>
            <a:r>
              <a:t>SMART LIVING / ACCESSIBILITY TECH  •  iQOO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486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800" b="1">
                <a:solidFill>
                  <a:srgbClr val="FFFFFF"/>
                </a:solidFill>
              </a:defRPr>
            </a:pPr>
            <a:r>
              <a:t>Drishti</a:t>
            </a:r>
          </a:p>
          <a:p>
            <a:pPr>
              <a:spcBef>
                <a:spcPts val="400"/>
              </a:spcBef>
              <a:defRPr sz="1600">
                <a:solidFill>
                  <a:srgbClr val="FFD700"/>
                </a:solidFill>
              </a:defRPr>
            </a:pPr>
            <a:r>
              <a:t>दृष्टि  •  Phone-First On-Device AI Sensory Companion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5486400" cy="1234440"/>
          </a:xfrm>
          <a:prstGeom prst="roundRect">
            <a:avLst/>
          </a:prstGeom>
          <a:solidFill>
            <a:srgbClr val="10141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201168"/>
          <a:lstStyle/>
          <a:p>
            <a:pPr algn="ctr">
              <a:defRPr sz="1650" b="1">
                <a:solidFill>
                  <a:srgbClr val="FFF0B4"/>
                </a:solidFill>
              </a:defRPr>
            </a:pPr>
            <a:r>
              <a:t>“An instant, private, offline sensory companion for the visually impaired”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2697480" cy="868680"/>
          </a:xfrm>
          <a:prstGeom prst="roundRect">
            <a:avLst/>
          </a:prstGeom>
          <a:solidFill>
            <a:srgbClr val="10141E"/>
          </a:solidFill>
          <a:ln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INSTANT REACTION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Zero cloud latency lag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4297680"/>
            <a:ext cx="2697480" cy="868680"/>
          </a:xfrm>
          <a:prstGeom prst="roundRect">
            <a:avLst/>
          </a:prstGeom>
          <a:solidFill>
            <a:srgbClr val="10141E"/>
          </a:solidFill>
          <a:ln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100% PRIVATE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Zero video leaves device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2697480" cy="868680"/>
          </a:xfrm>
          <a:prstGeom prst="roundRect">
            <a:avLst/>
          </a:prstGeom>
          <a:solidFill>
            <a:srgbClr val="10141E"/>
          </a:solidFill>
          <a:ln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FULLY OFFLINE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Verified in Airplane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5303520"/>
            <a:ext cx="2697480" cy="868680"/>
          </a:xfrm>
          <a:prstGeom prst="roundRect">
            <a:avLst/>
          </a:prstGeom>
          <a:solidFill>
            <a:srgbClr val="10141E"/>
          </a:solidFill>
          <a:ln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SMART LIVING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Everyday independence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822960"/>
            <a:ext cx="4876495" cy="53492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al_smartphone_camera_h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896112"/>
            <a:ext cx="4730191" cy="4425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20840" y="5340096"/>
            <a:ext cx="46021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FFD700"/>
                </a:solidFill>
              </a:defRPr>
            </a:pPr>
            <a:r>
              <a:t>PHONE-FIRST ASSISTIVE TECH</a:t>
            </a:r>
          </a:p>
          <a:p>
            <a:pPr>
              <a:spcBef>
                <a:spcPts val="200"/>
              </a:spcBef>
              <a:defRPr sz="950">
                <a:solidFill>
                  <a:srgbClr val="A5AFC3"/>
                </a:solidFill>
              </a:defRPr>
            </a:pPr>
            <a:r>
              <a:t>Transforming everyday smartphone cameras into instant, private spatial sensory prosthetics.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FD700"/>
                </a:solidFill>
              </a:defRPr>
            </a:pPr>
            <a:r>
              <a:t>THE REAL-WORLD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Why Existing Assistive Tech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>
                <a:solidFill>
                  <a:srgbClr val="A5AFC3"/>
                </a:solidFill>
              </a:defRPr>
            </a:pPr>
            <a:r>
              <a:t>Over 40 million people in India live with severe visual impairment. Cloud-dependent aids fail them in 3 critical ways: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931920" cy="452628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al_blind_cane_wal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56232"/>
            <a:ext cx="3785616" cy="3602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477256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FFD700"/>
                </a:solidFill>
              </a:defRPr>
            </a:pPr>
            <a:r>
              <a:t>THE EVERYDAY HAZARD</a:t>
            </a:r>
          </a:p>
          <a:p>
            <a:pPr>
              <a:spcBef>
                <a:spcPts val="200"/>
              </a:spcBef>
              <a:defRPr sz="950">
                <a:solidFill>
                  <a:srgbClr val="A5AFC3"/>
                </a:solidFill>
              </a:defRPr>
            </a:pPr>
            <a:r>
              <a:t>Navigating city crosswalks requires sub-second reflex. A 2-second cloud vision lag causes physical injury and collisions.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783080"/>
            <a:ext cx="6430975" cy="1353312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50" b="1">
                <a:solidFill>
                  <a:srgbClr val="FFFFFF"/>
                </a:solidFill>
              </a:defRPr>
            </a:pPr>
            <a:r>
              <a:t>01  Cloud Latency is Dangerous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Cloud vision APIs take 2 to 5 seconds per request.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A pedestrian moving at 1.2 m/s travels 4 to 6 feet in that delay window.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In obstacle avoidance, that delay causes collisions with poles, doors, and stairs.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364992"/>
            <a:ext cx="6430975" cy="1353312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50" b="1">
                <a:solidFill>
                  <a:srgbClr val="FFFFFF"/>
                </a:solidFill>
              </a:defRPr>
            </a:pPr>
            <a:r>
              <a:t>02  Severe Privacy Vulnerability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Users must upload live camera feeds of private bedrooms, bathrooms, and IDs.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Transmits sensitive documents (Aadhaar, prescriptions) to 3rd-party servers.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Users should never have to surrender their privacy just to achieve basic mobility.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956048"/>
            <a:ext cx="6430975" cy="1353312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00D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50" b="1">
                <a:solidFill>
                  <a:srgbClr val="FFFFFF"/>
                </a:solidFill>
              </a:defRPr>
            </a:pPr>
            <a:r>
              <a:t>03  Connectivity Fragility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Essential transit corridors (metro stations, elevators, rural zones) lack internet.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The moment connection drops, cloud-tethered apps instantly disable.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Leaves visually impaired users stranded and functionally blinded when they need help most.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FD700"/>
                </a:solidFill>
              </a:defRPr>
            </a:pPr>
            <a:r>
              <a:t>FULLY ON-DEVICE AI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What Drishti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>
                <a:solidFill>
                  <a:srgbClr val="A5AFC3"/>
                </a:solidFill>
              </a:defRPr>
            </a:pPr>
            <a:r>
              <a:t>Runs 100% offline on local phone silicon with zero cloud calls across 4 core accessibility capabilities: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108960" cy="21488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01  Spatial &amp; Scene Guidance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Real-time obstacle narration via local quantized VLM.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12 clock-face sectors ('Obstacle at 2 o'clock, 3 ft').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Directional linear haptic pulses guide around hazards.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783080"/>
            <a:ext cx="3108960" cy="21488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02  Smart-Scan for Medicine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On-device OCR + local LLM filters noisy blister packs.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Isolates Drug Name, Dosage, and Expiry Date.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Vocalizes vernacular directions ('Take after food').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3108960" cy="21488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00D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03  'Who's Near Me' Contact Scan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On-device contact recognition for trusted individuals.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128-d local embeddings stored only on-device.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Whispers proximity alert with heartbeat haptic pulse.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4160520"/>
            <a:ext cx="3108960" cy="21488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E6C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04  Pure Tactile &amp; Voice UX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Eyes-free high-contrast OLED interface.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Spatial audio + localized Indian speech engines.</a:t>
            </a:r>
          </a:p>
          <a:p>
            <a:pPr>
              <a:spcAft>
                <a:spcPts val="300"/>
              </a:spcAft>
              <a:defRPr sz="950">
                <a:solidFill>
                  <a:srgbClr val="A5AFC3"/>
                </a:solidFill>
              </a:defRPr>
            </a:pPr>
            <a:r>
              <a:t>•  Proximity vibrations guide hands directly to targets.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83080"/>
            <a:ext cx="4053535" cy="452628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al_hands_blister_p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1856232"/>
            <a:ext cx="3907231" cy="36027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5477256"/>
            <a:ext cx="3779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FFD700"/>
                </a:solidFill>
              </a:defRPr>
            </a:pPr>
            <a:r>
              <a:t>MEDICINE SMART-SCAN IN ACTION</a:t>
            </a:r>
          </a:p>
          <a:p>
            <a:pPr>
              <a:spcBef>
                <a:spcPts val="200"/>
              </a:spcBef>
              <a:defRPr sz="950">
                <a:solidFill>
                  <a:srgbClr val="A5AFC3"/>
                </a:solidFill>
              </a:defRPr>
            </a:pPr>
            <a:r>
              <a:t>Reads noisy pharmaceutical strips, dosage, and expiry dates offline in sub-second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FD700"/>
                </a:solidFill>
              </a:defRPr>
            </a:pPr>
            <a:r>
              <a:t>CORE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Makes Drishti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>
                <a:solidFill>
                  <a:srgbClr val="A5AFC3"/>
                </a:solidFill>
              </a:defRPr>
            </a:pPr>
            <a:r>
              <a:t>Engineering decisions purpose-built for real Indian living conditions and hardware accessibility: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80990" cy="21488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50" b="1">
                <a:solidFill>
                  <a:srgbClr val="FFFFFF"/>
                </a:solidFill>
              </a:defRPr>
            </a:pPr>
            <a:r>
              <a:t>01  Tiered Model Strategy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Standard Model: Runs on flagship NPU (iQOO devices) for rich contextual description.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Lite Model: Optimized for budget &amp; mid-range chips (Dimensity 6300/7300, Snapdragon 6).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Ensures accessibility across all economic demographics, not just flagship buyers.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783080"/>
            <a:ext cx="5180990" cy="21488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00D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50" b="1">
                <a:solidFill>
                  <a:srgbClr val="FFFFFF"/>
                </a:solidFill>
              </a:defRPr>
            </a:pPr>
            <a:r>
              <a:t>02  Live Real-World Latency Benchmark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Not simulated or mocked: fires a real HTTP network call against local stopwatch.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Demonstrates local processing is an order of magnitude faster than cloud round-trips.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Includes cached replay fallback if convention Wi-Fi is completely 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5180990" cy="21488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50" b="1">
                <a:solidFill>
                  <a:srgbClr val="FFFFFF"/>
                </a:solidFill>
              </a:defRPr>
            </a:pPr>
            <a:r>
              <a:t>03  100% Offline-Verifiable (Airplane Mode)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Airplane mode toggle proves zero network calls during live evaluation.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Operates flawlessly in basements, elevators, underground metros, and remote regions.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Zero cloud dependency: guaranteed reliability when it matters most.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270" y="4160520"/>
            <a:ext cx="5180990" cy="21488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E6C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50" b="1">
                <a:solidFill>
                  <a:srgbClr val="FFFFFF"/>
                </a:solidFill>
              </a:defRPr>
            </a:pPr>
            <a:r>
              <a:t>04  Local Encrypted Face Recognition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128-dimensional vector embeddings stored strictly on-device.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Encrypted at rest with WebCrypto AES-GCM 256-bit encryption.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Zero biometric data ever transmitted or uploaded to external servers.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FD700"/>
                </a:solidFill>
              </a:defRPr>
            </a:pPr>
            <a:r>
              <a:t>SIMPLE, VISUAL, ZERO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Architecture: Fully On-Device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>
                <a:solidFill>
                  <a:srgbClr val="A5AFC3"/>
                </a:solidFill>
              </a:defRPr>
            </a:pPr>
            <a:r>
              <a:t>Pure on-device edge pipeline converting raw camera &amp; motion frames into spatial speech and haptics: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32073" cy="265176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</a:defRPr>
            </a:pPr>
            <a:r>
              <a:t>01  Sensory Input Layer</a:t>
            </a:r>
          </a:p>
          <a:p>
            <a:pPr>
              <a:spcAft>
                <a:spcPts val="300"/>
              </a:spcAft>
              <a:defRPr sz="1050">
                <a:solidFill>
                  <a:srgbClr val="A5AFC3"/>
                </a:solidFill>
              </a:defRPr>
            </a:pPr>
            <a:r>
              <a:t>•  Low-latency 640x480 frame capture</a:t>
            </a:r>
          </a:p>
          <a:p>
            <a:pPr>
              <a:spcAft>
                <a:spcPts val="300"/>
              </a:spcAft>
              <a:defRPr sz="1050">
                <a:solidFill>
                  <a:srgbClr val="A5AFC3"/>
                </a:solidFill>
              </a:defRPr>
            </a:pPr>
            <a:r>
              <a:t>•  Accelerometer tilt &amp; back-tap detection</a:t>
            </a:r>
          </a:p>
          <a:p>
            <a:pPr>
              <a:spcAft>
                <a:spcPts val="300"/>
              </a:spcAft>
              <a:defRPr sz="1050">
                <a:solidFill>
                  <a:srgbClr val="A5AFC3"/>
                </a:solidFill>
              </a:defRPr>
            </a:pPr>
            <a:r>
              <a:t>•  Zero frame buffering or disk writing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353" y="1783080"/>
            <a:ext cx="3332073" cy="265176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00D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</a:defRPr>
            </a:pPr>
            <a:r>
              <a:t>02  On-Device Inference</a:t>
            </a:r>
          </a:p>
          <a:p>
            <a:pPr>
              <a:spcAft>
                <a:spcPts val="300"/>
              </a:spcAft>
              <a:defRPr sz="1050">
                <a:solidFill>
                  <a:srgbClr val="A5AFC3"/>
                </a:solidFill>
              </a:defRPr>
            </a:pPr>
            <a:r>
              <a:t>•  Quantized VLM for spatial scene analysis</a:t>
            </a:r>
          </a:p>
          <a:p>
            <a:pPr>
              <a:spcAft>
                <a:spcPts val="300"/>
              </a:spcAft>
              <a:defRPr sz="1050">
                <a:solidFill>
                  <a:srgbClr val="A5AFC3"/>
                </a:solidFill>
              </a:defRPr>
            </a:pPr>
            <a:r>
              <a:t>•  On-device OCR for medicine labels</a:t>
            </a:r>
          </a:p>
          <a:p>
            <a:pPr>
              <a:spcAft>
                <a:spcPts val="300"/>
              </a:spcAft>
              <a:defRPr sz="1050">
                <a:solidFill>
                  <a:srgbClr val="A5AFC3"/>
                </a:solidFill>
              </a:defRPr>
            </a:pPr>
            <a:r>
              <a:t>•  Local LLM for text summarization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187" y="1783080"/>
            <a:ext cx="3332073" cy="265176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</a:defRPr>
            </a:pPr>
            <a:r>
              <a:t>03  Multi-Sensory Output</a:t>
            </a:r>
          </a:p>
          <a:p>
            <a:pPr>
              <a:spcAft>
                <a:spcPts val="300"/>
              </a:spcAft>
              <a:defRPr sz="1050">
                <a:solidFill>
                  <a:srgbClr val="A5AFC3"/>
                </a:solidFill>
              </a:defRPr>
            </a:pPr>
            <a:r>
              <a:t>•  Clock-face spatial audio guidance</a:t>
            </a:r>
          </a:p>
          <a:p>
            <a:pPr>
              <a:spcAft>
                <a:spcPts val="300"/>
              </a:spcAft>
              <a:defRPr sz="1050">
                <a:solidFill>
                  <a:srgbClr val="A5AFC3"/>
                </a:solidFill>
              </a:defRPr>
            </a:pPr>
            <a:r>
              <a:t>•  Pan-Indian speech (Telugu, Hindi, etc.)</a:t>
            </a:r>
          </a:p>
          <a:p>
            <a:pPr>
              <a:spcAft>
                <a:spcPts val="300"/>
              </a:spcAft>
              <a:defRPr sz="1050">
                <a:solidFill>
                  <a:srgbClr val="A5AFC3"/>
                </a:solidFill>
              </a:defRPr>
            </a:pPr>
            <a:r>
              <a:t>•  Proximity vibration pulse sequences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64592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HARDWARE SCALING &amp; AIR-GAPPED PRIVACY GUARANTEE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</a:defRPr>
            </a:pPr>
            <a:r>
              <a:t>• Standard Tier (NPU): Leverages mobile NPU hardware (iQOO flagship chips) for multi-object spatial reasoning.</a:t>
            </a:r>
          </a:p>
          <a:p>
            <a:pPr>
              <a:defRPr sz="1050">
                <a:solidFill>
                  <a:srgbClr val="A5AFC3"/>
                </a:solidFill>
              </a:defRPr>
            </a:pPr>
            <a:r>
              <a:t>• Lite Tier (Edge CPU/GPU): Streamlined quantized weights running on affordable mid-range Indian smartphones.</a:t>
            </a:r>
          </a:p>
          <a:p>
            <a:pPr>
              <a:defRPr sz="1050">
                <a:solidFill>
                  <a:srgbClr val="34C759"/>
                </a:solidFill>
              </a:defRPr>
            </a:pPr>
            <a:r>
              <a:t>• 100% Air-Gapped Autonomy: Zero network sockets, zero telemetry tracking, zero server infrastructure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FD700"/>
                </a:solidFill>
              </a:defRPr>
            </a:pPr>
            <a:r>
              <a:t>STAGE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Demo Flow: 5-Step Stage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>
                <a:solidFill>
                  <a:srgbClr val="A5AFC3"/>
                </a:solidFill>
              </a:defRPr>
            </a:pPr>
            <a:r>
              <a:t>Concise, bulleted 3-minute stage pitch sequence demonstrating instant, zero-cloud capability: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309360" cy="786384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Step 1: Eyes-Free Navigation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Start in Eyes-Free Mode — phone camera scans stage, vocalizing 'Podium 4ft at 12 o'clock' with haptic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9191"/>
            <a:ext cx="6309360" cy="786384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50" b="1">
                <a:solidFill>
                  <a:srgbClr val="FFD700"/>
                </a:solidFill>
              </a:defRPr>
            </a:pPr>
            <a:r>
              <a:t>Step 2: The Airplane Mode Proof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Flip phone to Airplane Mode live on stage. Demonstrate continuous real-time guidance with zero Wi-Fi/cellular.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75304"/>
            <a:ext cx="6309360" cy="786384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Step 3: Medicine Label Smart-Scan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Hold up a medicine strip (Dolo 650). Instantly reads brand name, dosage, and expiry date — no packaging clutter.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71416"/>
            <a:ext cx="6309360" cy="786384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Step 4: 'Who's Near Me' Face Recognition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Teammate steps into frame. Phone vibrates distinct double-heartbeat and whispers contact name discreetly.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67528"/>
            <a:ext cx="6309360" cy="786384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Step 5: Live Latency Benchmark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Trigger side-by-side benchmark comparing on-device execution vs. real cloud request to visually prove latency superiority.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4144975" cy="44348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al_tactile_yellow_pav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1856232"/>
            <a:ext cx="3998671" cy="3511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52360" y="5385816"/>
            <a:ext cx="3870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FFD700"/>
                </a:solidFill>
              </a:defRPr>
            </a:pPr>
            <a:r>
              <a:t>TACTILE ACCESSIBILITY PROOF</a:t>
            </a:r>
          </a:p>
          <a:p>
            <a:pPr>
              <a:spcBef>
                <a:spcPts val="200"/>
              </a:spcBef>
              <a:defRPr sz="950">
                <a:solidFill>
                  <a:srgbClr val="A5AFC3"/>
                </a:solidFill>
              </a:defRPr>
            </a:pPr>
            <a:r>
              <a:t>100% verifiable offline operation in Airplane Mode — zero dependence on venue Wi-Fi or cellular networks.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FD700"/>
                </a:solidFill>
              </a:defRPr>
            </a:pPr>
            <a:r>
              <a:t>REAL-WORLD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Impact &amp; Why It Matters: Smart Living For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>
                <a:solidFill>
                  <a:srgbClr val="A5AFC3"/>
                </a:solidFill>
              </a:defRPr>
            </a:pPr>
            <a:r>
              <a:t>Drishti transforms smartphones into private, reliable sensory prosthetics that empower everyday independence: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931920" cy="452628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al_elderly_rea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56232"/>
            <a:ext cx="3785616" cy="3602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477256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FFD700"/>
                </a:solidFill>
              </a:defRPr>
            </a:pPr>
            <a:r>
              <a:t>EVERYDAY INDEPENDENCE</a:t>
            </a:r>
          </a:p>
          <a:p>
            <a:pPr>
              <a:spcBef>
                <a:spcPts val="200"/>
              </a:spcBef>
              <a:defRPr sz="950">
                <a:solidFill>
                  <a:srgbClr val="A5AFC3"/>
                </a:solidFill>
              </a:defRPr>
            </a:pPr>
            <a:r>
              <a:t>Enabling elderly and low-vision individuals to read prescriptions, verify dosages, and navigate independently.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783080"/>
            <a:ext cx="6430975" cy="1353312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50" b="1">
                <a:solidFill>
                  <a:srgbClr val="FFFFFF"/>
                </a:solidFill>
              </a:defRPr>
            </a:pPr>
            <a:r>
              <a:t>01  Real Everyday Independence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Enables visually impaired individuals to navigate unfamiliar indoor/outdoor spaces safely.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Empowers independent reading of daily medicines, food packaging, and transit signs.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Restores personal dignity without relying on sighted assistants or chaperones.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364992"/>
            <a:ext cx="6430975" cy="1353312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50" b="1">
                <a:solidFill>
                  <a:srgbClr val="FFFFFF"/>
                </a:solidFill>
              </a:defRPr>
            </a:pPr>
            <a:r>
              <a:t>02  Works on Budget Phones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Not locked behind expensive $1,000+ proprietary smart glasses or flagship silicon.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Tiered model strategy ensures accessibility on budget and mid-range devices across India.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Democratizes assistive technology for underserved socio-economic communities.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956048"/>
            <a:ext cx="6430975" cy="1353312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00D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64592"/>
          <a:lstStyle/>
          <a:p>
            <a:pPr algn="ctr">
              <a:spcAft>
                <a:spcPts val="500"/>
              </a:spcAft>
              <a:defRPr sz="1350" b="1">
                <a:solidFill>
                  <a:srgbClr val="FFFFFF"/>
                </a:solidFill>
              </a:defRPr>
            </a:pPr>
            <a:r>
              <a:t>03  Zero Subscriptions &amp; Zero Data Harvesting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Zero recurring monthly API fees or corporate subscription paywalls.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Zero monetization of sensitive user camera feeds or personal biometric data.</a:t>
            </a:r>
          </a:p>
          <a:p>
            <a:pPr>
              <a:spcAft>
                <a:spcPts val="300"/>
              </a:spcAft>
              <a:defRPr sz="1000">
                <a:solidFill>
                  <a:srgbClr val="A5AFC3"/>
                </a:solidFill>
              </a:defRPr>
            </a:pPr>
            <a:r>
              <a:t>•  Complete reliability in offline transit corridors, rural villages, and emergency situations.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303520" cy="365760"/>
          </a:xfrm>
          <a:prstGeom prst="roundRect">
            <a:avLst/>
          </a:prstGeom>
          <a:solidFill>
            <a:srgbClr val="16140A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D700"/>
                </a:solidFill>
              </a:defRPr>
            </a:pPr>
            <a:r>
              <a:t>SMART LIVING  •  iQOO HACKATHON 2026 (HYDERABAD)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Drishti</a:t>
            </a:r>
          </a:p>
          <a:p>
            <a:pPr>
              <a:defRPr sz="1600">
                <a:solidFill>
                  <a:srgbClr val="FFD700"/>
                </a:solidFill>
              </a:defRPr>
            </a:pPr>
            <a:r>
              <a:t>दृष्टि  •  On-Device AI Sensory Companion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5486400" cy="1280160"/>
          </a:xfrm>
          <a:prstGeom prst="roundRect">
            <a:avLst/>
          </a:prstGeom>
          <a:solidFill>
            <a:srgbClr val="10141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750" b="1">
                <a:solidFill>
                  <a:srgbClr val="FFF0B4"/>
                </a:solidFill>
              </a:defRPr>
            </a:pPr>
            <a:r>
              <a:t>“Built entirely on-device.</a:t>
            </a:r>
            <a:br/>
            <a:r>
              <a:t>Built entirely for independence.”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26280"/>
            <a:ext cx="5486400" cy="1600200"/>
          </a:xfrm>
          <a:prstGeom prst="roundRect">
            <a:avLst/>
          </a:prstGeom>
          <a:solidFill>
            <a:srgbClr val="10141E"/>
          </a:solidFill>
          <a:ln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164592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TEAM: [Team Name / Team Members]</a:t>
            </a:r>
          </a:p>
          <a:p>
            <a:pPr>
              <a:spcBef>
                <a:spcPts val="300"/>
              </a:spcBef>
              <a:defRPr sz="1000">
                <a:solidFill>
                  <a:srgbClr val="FFD700"/>
                </a:solidFill>
              </a:defRPr>
            </a:pPr>
            <a:r>
              <a:t>Track: Smart Living / Accessibility Tech (Hyderabad City Battle)</a:t>
            </a:r>
          </a:p>
          <a:p>
            <a:pPr>
              <a:spcBef>
                <a:spcPts val="200"/>
              </a:spcBef>
              <a:defRPr sz="950">
                <a:solidFill>
                  <a:srgbClr val="A5AFC3"/>
                </a:solidFill>
              </a:defRPr>
            </a:pPr>
            <a:r>
              <a:t>GitHub: https://github.com/M-L-Arjun/drishti-ai</a:t>
            </a:r>
          </a:p>
          <a:p>
            <a:pPr>
              <a:defRPr sz="950">
                <a:solidFill>
                  <a:srgbClr val="00D7FA"/>
                </a:solidFill>
              </a:defRPr>
            </a:pPr>
            <a:r>
              <a:t>Live App: https://drishti-seven-mu.vercel.app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005840"/>
            <a:ext cx="4876495" cy="5120640"/>
          </a:xfrm>
          <a:prstGeom prst="roundRect">
            <a:avLst/>
          </a:prstGeom>
          <a:solidFill>
            <a:srgbClr val="10141E"/>
          </a:solidFill>
          <a:ln w="12700">
            <a:solidFill>
              <a:srgbClr val="26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blind_cane_wal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078992"/>
            <a:ext cx="4730191" cy="41970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5294376"/>
            <a:ext cx="46021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FFD700"/>
                </a:solidFill>
              </a:defRPr>
            </a:pPr>
            <a:r>
              <a:t>AUTONOMY IN SMART LIVING</a:t>
            </a:r>
          </a:p>
          <a:p>
            <a:pPr>
              <a:spcBef>
                <a:spcPts val="200"/>
              </a:spcBef>
              <a:defRPr sz="950">
                <a:solidFill>
                  <a:srgbClr val="A5AFC3"/>
                </a:solidFill>
              </a:defRPr>
            </a:pPr>
            <a:r>
              <a:t>Restoring mobility, safety, and personal dignity through zero-cloud on-device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